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0" r:id="rId1"/>
  </p:sldMasterIdLst>
  <p:notesMasterIdLst>
    <p:notesMasterId r:id="rId43"/>
  </p:notesMasterIdLst>
  <p:sldIdLst>
    <p:sldId id="330" r:id="rId2"/>
    <p:sldId id="357" r:id="rId3"/>
    <p:sldId id="347" r:id="rId4"/>
    <p:sldId id="348" r:id="rId5"/>
    <p:sldId id="339" r:id="rId6"/>
    <p:sldId id="340" r:id="rId7"/>
    <p:sldId id="356" r:id="rId8"/>
    <p:sldId id="355" r:id="rId9"/>
    <p:sldId id="312" r:id="rId10"/>
    <p:sldId id="349" r:id="rId11"/>
    <p:sldId id="350" r:id="rId12"/>
    <p:sldId id="334" r:id="rId13"/>
    <p:sldId id="335" r:id="rId14"/>
    <p:sldId id="336" r:id="rId15"/>
    <p:sldId id="337" r:id="rId16"/>
    <p:sldId id="351" r:id="rId17"/>
    <p:sldId id="352" r:id="rId18"/>
    <p:sldId id="353" r:id="rId19"/>
    <p:sldId id="354" r:id="rId20"/>
    <p:sldId id="338" r:id="rId21"/>
    <p:sldId id="318" r:id="rId22"/>
    <p:sldId id="325" r:id="rId23"/>
    <p:sldId id="326" r:id="rId24"/>
    <p:sldId id="323" r:id="rId25"/>
    <p:sldId id="328" r:id="rId26"/>
    <p:sldId id="329" r:id="rId27"/>
    <p:sldId id="320" r:id="rId28"/>
    <p:sldId id="341" r:id="rId29"/>
    <p:sldId id="343" r:id="rId30"/>
    <p:sldId id="342" r:id="rId31"/>
    <p:sldId id="344" r:id="rId32"/>
    <p:sldId id="327" r:id="rId33"/>
    <p:sldId id="331" r:id="rId34"/>
    <p:sldId id="345" r:id="rId35"/>
    <p:sldId id="346" r:id="rId36"/>
    <p:sldId id="322" r:id="rId37"/>
    <p:sldId id="332" r:id="rId38"/>
    <p:sldId id="321" r:id="rId39"/>
    <p:sldId id="314" r:id="rId40"/>
    <p:sldId id="313" r:id="rId41"/>
    <p:sldId id="316"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66" autoAdjust="0"/>
  </p:normalViewPr>
  <p:slideViewPr>
    <p:cSldViewPr snapToGrid="0" snapToObjects="1">
      <p:cViewPr>
        <p:scale>
          <a:sx n="100" d="100"/>
          <a:sy n="100" d="100"/>
        </p:scale>
        <p:origin x="176"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interSettings" Target="printerSettings/printerSettings1.bin"/><Relationship Id="rId4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BD9DC1-FC32-054D-8D07-8D49AA438C22}" type="datetimeFigureOut">
              <a:rPr lang="en-US" smtClean="0"/>
              <a:t>6/23/16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DE7482-52F8-F041-8D8F-940E6DAB4285}" type="slidenum">
              <a:rPr lang="en-US" smtClean="0"/>
              <a:t>‹#›</a:t>
            </a:fld>
            <a:endParaRPr lang="en-US"/>
          </a:p>
        </p:txBody>
      </p:sp>
    </p:spTree>
    <p:extLst>
      <p:ext uri="{BB962C8B-B14F-4D97-AF65-F5344CB8AC3E}">
        <p14:creationId xmlns:p14="http://schemas.microsoft.com/office/powerpoint/2010/main" val="296560887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1" Type="http://schemas.openxmlformats.org/officeDocument/2006/relationships/hyperlink" Target="https://en.wikipedia.org/wiki/IBM" TargetMode="External"/><Relationship Id="rId12" Type="http://schemas.openxmlformats.org/officeDocument/2006/relationships/hyperlink" Target="https://en.wikipedia.org/wiki/I/O" TargetMode="External"/><Relationship Id="rId13" Type="http://schemas.openxmlformats.org/officeDocument/2006/relationships/hyperlink" Target="https://en.wikipedia.org/wiki/Flag_(computing)" TargetMode="External"/><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en.wikipedia.org/wiki/Main_loop" TargetMode="External"/><Relationship Id="rId4" Type="http://schemas.openxmlformats.org/officeDocument/2006/relationships/hyperlink" Target="https://en.wikipedia.org/wiki/Callback_function" TargetMode="External"/><Relationship Id="rId5" Type="http://schemas.openxmlformats.org/officeDocument/2006/relationships/hyperlink" Target="https://en.wikipedia.org/w/index.php?title=Event-driven_programming&amp;action=edit&amp;section=4" TargetMode="External"/><Relationship Id="rId6" Type="http://schemas.openxmlformats.org/officeDocument/2006/relationships/hyperlink" Target="https://en.wikipedia.org/wiki/Subroutines" TargetMode="External"/><Relationship Id="rId7" Type="http://schemas.openxmlformats.org/officeDocument/2006/relationships/hyperlink" Target="https://en.wikipedia.org/wiki/Method_(computer_science)" TargetMode="External"/><Relationship Id="rId8" Type="http://schemas.openxmlformats.org/officeDocument/2006/relationships/hyperlink" Target="https://en.wikipedia.org/wiki/Graphical_user_interface" TargetMode="External"/><Relationship Id="rId9" Type="http://schemas.openxmlformats.org/officeDocument/2006/relationships/hyperlink" Target="https://en.wikipedia.org/wiki/Database" TargetMode="External"/><Relationship Id="rId10" Type="http://schemas.openxmlformats.org/officeDocument/2006/relationships/hyperlink" Target="https://en.wikipedia.org/wiki/IBM_RPG"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Vending_machine" TargetMode="External"/><Relationship Id="rId4" Type="http://schemas.openxmlformats.org/officeDocument/2006/relationships/hyperlink" Target="https://en.wikipedia.org/wiki/Elevator" TargetMode="External"/><Relationship Id="rId5" Type="http://schemas.openxmlformats.org/officeDocument/2006/relationships/hyperlink" Target="https://en.wikipedia.org/wiki/Traffic_light" TargetMode="External"/><Relationship Id="rId6" Type="http://schemas.openxmlformats.org/officeDocument/2006/relationships/hyperlink" Target="https://en.wikipedia.org/wiki/Combination_lock" TargetMode="External"/><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Model_of_computation" TargetMode="External"/><Relationship Id="rId4" Type="http://schemas.openxmlformats.org/officeDocument/2006/relationships/hyperlink" Target="https://en.wikipedia.org/wiki/Computer_programs" TargetMode="External"/><Relationship Id="rId5" Type="http://schemas.openxmlformats.org/officeDocument/2006/relationships/hyperlink" Target="https://en.wikipedia.org/wiki/Sequential_logic" TargetMode="External"/><Relationship Id="rId6" Type="http://schemas.openxmlformats.org/officeDocument/2006/relationships/hyperlink" Target="https://en.wikipedia.org/wiki/Abstract_machine" TargetMode="External"/><Relationship Id="rId7" Type="http://schemas.openxmlformats.org/officeDocument/2006/relationships/hyperlink" Target="https://en.wikipedia.org/wiki/State_(computer_science)" TargetMode="External"/><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n an event-driven application, there is generally a </a:t>
            </a:r>
            <a:r>
              <a:rPr lang="en-US" sz="1200" kern="1200" dirty="0" smtClean="0">
                <a:solidFill>
                  <a:schemeClr val="tx1"/>
                </a:solidFill>
                <a:latin typeface="+mn-lt"/>
                <a:ea typeface="+mn-ea"/>
                <a:cs typeface="+mn-cs"/>
                <a:hlinkClick r:id="rId3"/>
              </a:rPr>
              <a:t>main loop that listens for events, and then triggers a </a:t>
            </a:r>
            <a:r>
              <a:rPr lang="en-US" sz="1200" kern="1200" dirty="0" smtClean="0">
                <a:solidFill>
                  <a:schemeClr val="tx1"/>
                </a:solidFill>
                <a:latin typeface="+mn-lt"/>
                <a:ea typeface="+mn-ea"/>
                <a:cs typeface="+mn-cs"/>
                <a:hlinkClick r:id="rId4"/>
              </a:rPr>
              <a:t>callback function when one of those events is detected. </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Creating event handlers</a:t>
            </a:r>
            <a:r>
              <a:rPr lang="en-US" sz="1200" b="0" kern="1200" dirty="0" smtClean="0">
                <a:solidFill>
                  <a:schemeClr val="tx1"/>
                </a:solidFill>
                <a:latin typeface="+mn-lt"/>
                <a:ea typeface="+mn-ea"/>
                <a:cs typeface="+mn-cs"/>
              </a:rPr>
              <a:t>[</a:t>
            </a:r>
            <a:r>
              <a:rPr lang="en-US" sz="1200" b="0" kern="1200" dirty="0" smtClean="0">
                <a:solidFill>
                  <a:schemeClr val="tx1"/>
                </a:solidFill>
                <a:latin typeface="+mn-lt"/>
                <a:ea typeface="+mn-ea"/>
                <a:cs typeface="+mn-cs"/>
                <a:hlinkClick r:id="rId5"/>
              </a:rPr>
              <a:t>edit]</a:t>
            </a:r>
            <a:endParaRPr lang="en-US" sz="1200" b="1" kern="1200" dirty="0" smtClean="0">
              <a:solidFill>
                <a:schemeClr val="tx1"/>
              </a:solidFill>
              <a:latin typeface="+mn-lt"/>
              <a:ea typeface="+mn-ea"/>
              <a:cs typeface="+mn-cs"/>
              <a:hlinkClick r:id="rId5"/>
            </a:endParaRPr>
          </a:p>
          <a:p>
            <a:r>
              <a:rPr lang="en-US" sz="1200" b="0" kern="1200" dirty="0" smtClean="0">
                <a:solidFill>
                  <a:schemeClr val="tx1"/>
                </a:solidFill>
                <a:latin typeface="+mn-lt"/>
                <a:ea typeface="+mn-ea"/>
                <a:cs typeface="+mn-cs"/>
              </a:rPr>
              <a:t>The first step in developing an event-driven program is to write a series of </a:t>
            </a:r>
            <a:r>
              <a:rPr lang="en-US" sz="1200" b="0" kern="1200" dirty="0" smtClean="0">
                <a:solidFill>
                  <a:schemeClr val="tx1"/>
                </a:solidFill>
                <a:latin typeface="+mn-lt"/>
                <a:ea typeface="+mn-ea"/>
                <a:cs typeface="+mn-cs"/>
                <a:hlinkClick r:id="rId6"/>
              </a:rPr>
              <a:t>subroutines, or </a:t>
            </a:r>
            <a:r>
              <a:rPr lang="en-US" sz="1200" b="0" kern="1200" dirty="0" smtClean="0">
                <a:solidFill>
                  <a:schemeClr val="tx1"/>
                </a:solidFill>
                <a:latin typeface="+mn-lt"/>
                <a:ea typeface="+mn-ea"/>
                <a:cs typeface="+mn-cs"/>
                <a:hlinkClick r:id="rId7"/>
              </a:rPr>
              <a:t>methods, called event-handler routines. These routines handle the events to which the main program will respond. For example, a single left-button mouse-click on a command button in a </a:t>
            </a:r>
            <a:r>
              <a:rPr lang="en-US" sz="1200" b="0" kern="1200" dirty="0" smtClean="0">
                <a:solidFill>
                  <a:schemeClr val="tx1"/>
                </a:solidFill>
                <a:latin typeface="+mn-lt"/>
                <a:ea typeface="+mn-ea"/>
                <a:cs typeface="+mn-cs"/>
                <a:hlinkClick r:id="rId8"/>
              </a:rPr>
              <a:t>GUI program may trigger a routine that will open another window, save data to a </a:t>
            </a:r>
            <a:r>
              <a:rPr lang="en-US" sz="1200" b="0" kern="1200" dirty="0" smtClean="0">
                <a:solidFill>
                  <a:schemeClr val="tx1"/>
                </a:solidFill>
                <a:latin typeface="+mn-lt"/>
                <a:ea typeface="+mn-ea"/>
                <a:cs typeface="+mn-cs"/>
                <a:hlinkClick r:id="rId9"/>
              </a:rPr>
              <a:t>database or exit the application. Many modern-day programming environments provide the programmer with event templates, allowing the programmer to focus on writing the event code.</a:t>
            </a:r>
          </a:p>
          <a:p>
            <a:r>
              <a:rPr lang="en-US" sz="1200" b="0" kern="1200" dirty="0" smtClean="0">
                <a:solidFill>
                  <a:schemeClr val="tx1"/>
                </a:solidFill>
                <a:latin typeface="+mn-lt"/>
                <a:ea typeface="+mn-ea"/>
                <a:cs typeface="+mn-cs"/>
              </a:rPr>
              <a:t>The second step is to bind event handlers to events so that the correct function is called when the event takes place. Graphical editors combine the first two steps: double-click on a button, and the editor creates an (empty) event handler associated with the user clicking the button and opens a text window so you can edit the event handler.</a:t>
            </a:r>
          </a:p>
          <a:p>
            <a:r>
              <a:rPr lang="en-US" sz="1200" b="0" kern="1200" dirty="0" smtClean="0">
                <a:solidFill>
                  <a:schemeClr val="tx1"/>
                </a:solidFill>
                <a:latin typeface="+mn-lt"/>
                <a:ea typeface="+mn-ea"/>
                <a:cs typeface="+mn-cs"/>
              </a:rPr>
              <a:t>The third step in developing an event-driven program is to write the </a:t>
            </a:r>
            <a:r>
              <a:rPr lang="en-US" sz="1200" b="0" kern="1200" dirty="0" smtClean="0">
                <a:solidFill>
                  <a:schemeClr val="tx1"/>
                </a:solidFill>
                <a:latin typeface="+mn-lt"/>
                <a:ea typeface="+mn-ea"/>
                <a:cs typeface="+mn-cs"/>
                <a:hlinkClick r:id="rId3"/>
              </a:rPr>
              <a:t>main loop. This is a function that checks for the occurrence of events, and then calls the matching event handler to process it. Most event-driven programming environments already provide this main loop, so it need not be specifically provided by the application programmer. </a:t>
            </a:r>
            <a:r>
              <a:rPr lang="en-US" sz="1200" b="0" kern="1200" dirty="0" smtClean="0">
                <a:solidFill>
                  <a:schemeClr val="tx1"/>
                </a:solidFill>
                <a:latin typeface="+mn-lt"/>
                <a:ea typeface="+mn-ea"/>
                <a:cs typeface="+mn-cs"/>
                <a:hlinkClick r:id="rId10"/>
              </a:rPr>
              <a:t>RPG, an early programming language from </a:t>
            </a:r>
            <a:r>
              <a:rPr lang="en-US" sz="1200" b="0" u="sng" kern="1200" dirty="0" smtClean="0">
                <a:solidFill>
                  <a:schemeClr val="tx1"/>
                </a:solidFill>
                <a:latin typeface="+mn-lt"/>
                <a:ea typeface="+mn-ea"/>
                <a:cs typeface="+mn-cs"/>
                <a:hlinkClick r:id="rId11"/>
              </a:rPr>
              <a:t>IBM, whose 1960s design concept was similar to event-driven programming discussed above, provided a built-in main </a:t>
            </a:r>
            <a:r>
              <a:rPr lang="en-US" sz="1200" b="0" u="sng" kern="1200" dirty="0" smtClean="0">
                <a:solidFill>
                  <a:schemeClr val="tx1"/>
                </a:solidFill>
                <a:latin typeface="+mn-lt"/>
                <a:ea typeface="+mn-ea"/>
                <a:cs typeface="+mn-cs"/>
                <a:hlinkClick r:id="rId12"/>
              </a:rPr>
              <a:t>I/O loop (known as the "program cycle") where the calculations responded in accordance to 'indicators' (</a:t>
            </a:r>
            <a:r>
              <a:rPr lang="en-US" sz="1200" b="0" u="sng" kern="1200" dirty="0" smtClean="0">
                <a:solidFill>
                  <a:schemeClr val="tx1"/>
                </a:solidFill>
                <a:latin typeface="+mn-lt"/>
                <a:ea typeface="+mn-ea"/>
                <a:cs typeface="+mn-cs"/>
                <a:hlinkClick r:id="rId13"/>
              </a:rPr>
              <a:t>flags) that were set earlier in the cycle.</a:t>
            </a:r>
            <a:endParaRPr lang="en-US" dirty="0"/>
          </a:p>
        </p:txBody>
      </p:sp>
      <p:sp>
        <p:nvSpPr>
          <p:cNvPr id="4" name="Slide Number Placeholder 3"/>
          <p:cNvSpPr>
            <a:spLocks noGrp="1"/>
          </p:cNvSpPr>
          <p:nvPr>
            <p:ph type="sldNum" sz="quarter" idx="10"/>
          </p:nvPr>
        </p:nvSpPr>
        <p:spPr/>
        <p:txBody>
          <a:bodyPr/>
          <a:lstStyle/>
          <a:p>
            <a:fld id="{FDDE7482-52F8-F041-8D8F-940E6DAB4285}" type="slidenum">
              <a:rPr lang="en-US" smtClean="0"/>
              <a:t>12</a:t>
            </a:fld>
            <a:endParaRPr lang="en-US"/>
          </a:p>
        </p:txBody>
      </p:sp>
    </p:spTree>
    <p:extLst>
      <p:ext uri="{BB962C8B-B14F-4D97-AF65-F5344CB8AC3E}">
        <p14:creationId xmlns:p14="http://schemas.microsoft.com/office/powerpoint/2010/main" val="2320266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The behavior of state machines can be observed in many devices in modern society that perform a predetermined sequence of actions depending on a sequence of events with which they are presented. Simple examples are </a:t>
            </a:r>
            <a:r>
              <a:rPr lang="en-US" sz="1200" kern="1200" dirty="0" smtClean="0">
                <a:solidFill>
                  <a:schemeClr val="tx1"/>
                </a:solidFill>
                <a:latin typeface="+mn-lt"/>
                <a:ea typeface="+mn-ea"/>
                <a:cs typeface="+mn-cs"/>
                <a:hlinkClick r:id="rId3"/>
              </a:rPr>
              <a:t>vending machines, which dispense products when the proper combination of coins is deposited, </a:t>
            </a:r>
            <a:r>
              <a:rPr lang="en-US" sz="1200" kern="1200" dirty="0" smtClean="0">
                <a:solidFill>
                  <a:schemeClr val="tx1"/>
                </a:solidFill>
                <a:latin typeface="+mn-lt"/>
                <a:ea typeface="+mn-ea"/>
                <a:cs typeface="+mn-cs"/>
                <a:hlinkClick r:id="rId4"/>
              </a:rPr>
              <a:t>elevators, which drop riders off at upper floors before going down, </a:t>
            </a:r>
            <a:r>
              <a:rPr lang="en-US" sz="1200" kern="1200" dirty="0" smtClean="0">
                <a:solidFill>
                  <a:schemeClr val="tx1"/>
                </a:solidFill>
                <a:latin typeface="+mn-lt"/>
                <a:ea typeface="+mn-ea"/>
                <a:cs typeface="+mn-cs"/>
                <a:hlinkClick r:id="rId5"/>
              </a:rPr>
              <a:t>traffic lights, which change sequence when cars are waiting, and </a:t>
            </a:r>
            <a:r>
              <a:rPr lang="en-US" sz="1200" kern="1200" dirty="0" smtClean="0">
                <a:solidFill>
                  <a:schemeClr val="tx1"/>
                </a:solidFill>
                <a:latin typeface="+mn-lt"/>
                <a:ea typeface="+mn-ea"/>
                <a:cs typeface="+mn-cs"/>
                <a:hlinkClick r:id="rId6"/>
              </a:rPr>
              <a:t>combination locks, which require the input of combination numbers in the proper order.</a:t>
            </a:r>
            <a:endParaRPr lang="en-US" dirty="0"/>
          </a:p>
        </p:txBody>
      </p:sp>
      <p:sp>
        <p:nvSpPr>
          <p:cNvPr id="4" name="Slide Number Placeholder 3"/>
          <p:cNvSpPr>
            <a:spLocks noGrp="1"/>
          </p:cNvSpPr>
          <p:nvPr>
            <p:ph type="sldNum" sz="quarter" idx="10"/>
          </p:nvPr>
        </p:nvSpPr>
        <p:spPr/>
        <p:txBody>
          <a:bodyPr/>
          <a:lstStyle/>
          <a:p>
            <a:fld id="{FDDE7482-52F8-F041-8D8F-940E6DAB4285}" type="slidenum">
              <a:rPr lang="en-US" smtClean="0"/>
              <a:t>21</a:t>
            </a:fld>
            <a:endParaRPr lang="en-US"/>
          </a:p>
        </p:txBody>
      </p:sp>
    </p:spTree>
    <p:extLst>
      <p:ext uri="{BB962C8B-B14F-4D97-AF65-F5344CB8AC3E}">
        <p14:creationId xmlns:p14="http://schemas.microsoft.com/office/powerpoint/2010/main" val="3725902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A </a:t>
            </a:r>
            <a:r>
              <a:rPr lang="en-US" sz="1200" b="1" kern="1200" dirty="0" smtClean="0">
                <a:solidFill>
                  <a:schemeClr val="tx1"/>
                </a:solidFill>
                <a:latin typeface="+mn-lt"/>
                <a:ea typeface="+mn-ea"/>
                <a:cs typeface="+mn-cs"/>
              </a:rPr>
              <a:t>finite-state machine</a:t>
            </a:r>
            <a:r>
              <a:rPr lang="en-US" sz="1200" b="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FSM</a:t>
            </a:r>
            <a:r>
              <a:rPr lang="en-US" sz="1200" b="0" kern="1200" dirty="0" smtClean="0">
                <a:solidFill>
                  <a:schemeClr val="tx1"/>
                </a:solidFill>
                <a:latin typeface="+mn-lt"/>
                <a:ea typeface="+mn-ea"/>
                <a:cs typeface="+mn-cs"/>
              </a:rPr>
              <a:t>) or </a:t>
            </a:r>
            <a:r>
              <a:rPr lang="en-US" sz="1200" b="1" kern="1200" dirty="0" smtClean="0">
                <a:solidFill>
                  <a:schemeClr val="tx1"/>
                </a:solidFill>
                <a:latin typeface="+mn-lt"/>
                <a:ea typeface="+mn-ea"/>
                <a:cs typeface="+mn-cs"/>
              </a:rPr>
              <a:t>finite-state automaton</a:t>
            </a:r>
            <a:r>
              <a:rPr lang="en-US" sz="1200" b="0" kern="1200" dirty="0" smtClean="0">
                <a:solidFill>
                  <a:schemeClr val="tx1"/>
                </a:solidFill>
                <a:latin typeface="+mn-lt"/>
                <a:ea typeface="+mn-ea"/>
                <a:cs typeface="+mn-cs"/>
              </a:rPr>
              <a:t> (plural: </a:t>
            </a:r>
            <a:r>
              <a:rPr lang="en-US" sz="1200" b="0" i="1" kern="1200" dirty="0" smtClean="0">
                <a:solidFill>
                  <a:schemeClr val="tx1"/>
                </a:solidFill>
                <a:latin typeface="+mn-lt"/>
                <a:ea typeface="+mn-ea"/>
                <a:cs typeface="+mn-cs"/>
              </a:rPr>
              <a:t>automata</a:t>
            </a:r>
            <a:r>
              <a:rPr lang="en-US" sz="1200" b="0" i="0" kern="1200" dirty="0" smtClean="0">
                <a:solidFill>
                  <a:schemeClr val="tx1"/>
                </a:solidFill>
                <a:latin typeface="+mn-lt"/>
                <a:ea typeface="+mn-ea"/>
                <a:cs typeface="+mn-cs"/>
              </a:rPr>
              <a:t>), or simply a </a:t>
            </a:r>
            <a:r>
              <a:rPr lang="en-US" sz="1200" b="1" i="0" kern="1200" dirty="0" smtClean="0">
                <a:solidFill>
                  <a:schemeClr val="tx1"/>
                </a:solidFill>
                <a:latin typeface="+mn-lt"/>
                <a:ea typeface="+mn-ea"/>
                <a:cs typeface="+mn-cs"/>
              </a:rPr>
              <a:t>state machine</a:t>
            </a:r>
            <a:r>
              <a:rPr lang="en-US" sz="1200" b="0" i="0" kern="1200" dirty="0" smtClean="0">
                <a:solidFill>
                  <a:schemeClr val="tx1"/>
                </a:solidFill>
                <a:latin typeface="+mn-lt"/>
                <a:ea typeface="+mn-ea"/>
                <a:cs typeface="+mn-cs"/>
              </a:rPr>
              <a:t>, is a mathematical </a:t>
            </a:r>
            <a:r>
              <a:rPr lang="en-US" sz="1200" b="0" i="0" kern="1200" dirty="0" smtClean="0">
                <a:solidFill>
                  <a:schemeClr val="tx1"/>
                </a:solidFill>
                <a:latin typeface="+mn-lt"/>
                <a:ea typeface="+mn-ea"/>
                <a:cs typeface="+mn-cs"/>
                <a:hlinkClick r:id="rId3"/>
              </a:rPr>
              <a:t>model of computation used to design both </a:t>
            </a:r>
            <a:r>
              <a:rPr lang="en-US" sz="1200" b="0" i="0" kern="1200" dirty="0" smtClean="0">
                <a:solidFill>
                  <a:schemeClr val="tx1"/>
                </a:solidFill>
                <a:latin typeface="+mn-lt"/>
                <a:ea typeface="+mn-ea"/>
                <a:cs typeface="+mn-cs"/>
                <a:hlinkClick r:id="rId4"/>
              </a:rPr>
              <a:t>computer programs and </a:t>
            </a:r>
            <a:r>
              <a:rPr lang="en-US" sz="1200" b="0" i="0" kern="1200" dirty="0" smtClean="0">
                <a:solidFill>
                  <a:schemeClr val="tx1"/>
                </a:solidFill>
                <a:latin typeface="+mn-lt"/>
                <a:ea typeface="+mn-ea"/>
                <a:cs typeface="+mn-cs"/>
                <a:hlinkClick r:id="rId5"/>
              </a:rPr>
              <a:t>sequential logic circuits. It is conceived as an </a:t>
            </a:r>
            <a:r>
              <a:rPr lang="en-US" sz="1200" b="0" i="0" kern="1200" dirty="0" smtClean="0">
                <a:solidFill>
                  <a:schemeClr val="tx1"/>
                </a:solidFill>
                <a:latin typeface="+mn-lt"/>
                <a:ea typeface="+mn-ea"/>
                <a:cs typeface="+mn-cs"/>
                <a:hlinkClick r:id="rId6"/>
              </a:rPr>
              <a:t>abstract machine that can be in one of a finite number of </a:t>
            </a:r>
            <a:r>
              <a:rPr lang="en-US" sz="1200" b="0" i="1" kern="1200" dirty="0" smtClean="0">
                <a:solidFill>
                  <a:schemeClr val="tx1"/>
                </a:solidFill>
                <a:latin typeface="+mn-lt"/>
                <a:ea typeface="+mn-ea"/>
                <a:cs typeface="+mn-cs"/>
                <a:hlinkClick r:id="rId7"/>
              </a:rPr>
              <a:t>states</a:t>
            </a:r>
            <a:r>
              <a:rPr lang="en-US" sz="1200" b="0" i="0" kern="1200" dirty="0" smtClean="0">
                <a:solidFill>
                  <a:schemeClr val="tx1"/>
                </a:solidFill>
                <a:latin typeface="+mn-lt"/>
                <a:ea typeface="+mn-ea"/>
                <a:cs typeface="+mn-cs"/>
                <a:hlinkClick r:id="rId7"/>
              </a:rPr>
              <a:t>. The machine is in only one state at a time; the state it is in at any given time is called the </a:t>
            </a:r>
            <a:r>
              <a:rPr lang="en-US" sz="1200" b="0" i="1" kern="1200" dirty="0" smtClean="0">
                <a:solidFill>
                  <a:schemeClr val="tx1"/>
                </a:solidFill>
                <a:latin typeface="+mn-lt"/>
                <a:ea typeface="+mn-ea"/>
                <a:cs typeface="+mn-cs"/>
                <a:hlinkClick r:id="rId7"/>
              </a:rPr>
              <a:t>current state</a:t>
            </a:r>
            <a:r>
              <a:rPr lang="en-US" sz="1200" b="0" i="0" kern="1200" dirty="0" smtClean="0">
                <a:solidFill>
                  <a:schemeClr val="tx1"/>
                </a:solidFill>
                <a:latin typeface="+mn-lt"/>
                <a:ea typeface="+mn-ea"/>
                <a:cs typeface="+mn-cs"/>
                <a:hlinkClick r:id="rId7"/>
              </a:rPr>
              <a:t>. It can change from one state to another when initiated by a triggering event or condition; this is called a </a:t>
            </a:r>
            <a:r>
              <a:rPr lang="en-US" sz="1200" b="0" i="1" kern="1200" dirty="0" smtClean="0">
                <a:solidFill>
                  <a:schemeClr val="tx1"/>
                </a:solidFill>
                <a:latin typeface="+mn-lt"/>
                <a:ea typeface="+mn-ea"/>
                <a:cs typeface="+mn-cs"/>
                <a:hlinkClick r:id="rId7"/>
              </a:rPr>
              <a:t>transition</a:t>
            </a:r>
            <a:r>
              <a:rPr lang="en-US" sz="1200" b="0" i="0" kern="1200" dirty="0" smtClean="0">
                <a:solidFill>
                  <a:schemeClr val="tx1"/>
                </a:solidFill>
                <a:latin typeface="+mn-lt"/>
                <a:ea typeface="+mn-ea"/>
                <a:cs typeface="+mn-cs"/>
                <a:hlinkClick r:id="rId7"/>
              </a:rPr>
              <a:t>. A particular FSM is defined by a list of its states, and the triggering condition for each transition.</a:t>
            </a:r>
          </a:p>
          <a:p>
            <a:endParaRPr lang="en-US" dirty="0"/>
          </a:p>
        </p:txBody>
      </p:sp>
      <p:sp>
        <p:nvSpPr>
          <p:cNvPr id="4" name="Slide Number Placeholder 3"/>
          <p:cNvSpPr>
            <a:spLocks noGrp="1"/>
          </p:cNvSpPr>
          <p:nvPr>
            <p:ph type="sldNum" sz="quarter" idx="10"/>
          </p:nvPr>
        </p:nvSpPr>
        <p:spPr/>
        <p:txBody>
          <a:bodyPr/>
          <a:lstStyle/>
          <a:p>
            <a:fld id="{FDDE7482-52F8-F041-8D8F-940E6DAB4285}" type="slidenum">
              <a:rPr lang="en-US" smtClean="0"/>
              <a:t>22</a:t>
            </a:fld>
            <a:endParaRPr lang="en-US"/>
          </a:p>
        </p:txBody>
      </p:sp>
    </p:spTree>
    <p:extLst>
      <p:ext uri="{BB962C8B-B14F-4D97-AF65-F5344CB8AC3E}">
        <p14:creationId xmlns:p14="http://schemas.microsoft.com/office/powerpoint/2010/main" val="3208355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8A432C8-69A7-458B-9684-2BFA64B31948}" type="datetime2">
              <a:rPr lang="en-US" smtClean="0"/>
              <a:t>Thursday, June 23, 16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96A3A3-94A6-4E5B-AF39-173ACA3E61CC}" type="datetime2">
              <a:rPr lang="en-US" smtClean="0"/>
              <a:t>Thursday, June 23, 16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33D019-A32C-4EAD-B8E6-DBDA699692FD}" type="datetime2">
              <a:rPr lang="en-US" smtClean="0"/>
              <a:t>Thursday, June 23, 16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CEBA98F-560C-4997-81C4-81D4D9187EAB}" type="datetime2">
              <a:rPr lang="en-US" smtClean="0"/>
              <a:t>Thursday, June 23, 16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50972B2-CA5C-437D-87D0-8081271A9E4B}" type="datetime2">
              <a:rPr lang="en-US" smtClean="0"/>
              <a:t>Thursday, June 23, 16</a:t>
            </a:fld>
            <a:endParaRPr lang="en-US"/>
          </a:p>
        </p:txBody>
      </p:sp>
      <p:sp>
        <p:nvSpPr>
          <p:cNvPr id="8" name="Footer Placeholder 7"/>
          <p:cNvSpPr>
            <a:spLocks noGrp="1"/>
          </p:cNvSpPr>
          <p:nvPr>
            <p:ph type="ftr" sz="quarter" idx="11"/>
          </p:nvPr>
        </p:nvSpPr>
        <p:spPr/>
        <p:txBody>
          <a:bodyPr/>
          <a:lstStyle/>
          <a:p>
            <a:pPr algn="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CD4847-11EF-4466-A8AD-85CDB7B49118}" type="datetime2">
              <a:rPr lang="en-US" smtClean="0"/>
              <a:t>Thursday, June 23, 16</a:t>
            </a:fld>
            <a:endParaRPr lang="en-US"/>
          </a:p>
        </p:txBody>
      </p:sp>
      <p:sp>
        <p:nvSpPr>
          <p:cNvPr id="4" name="Footer Placeholder 3"/>
          <p:cNvSpPr>
            <a:spLocks noGrp="1"/>
          </p:cNvSpPr>
          <p:nvPr>
            <p:ph type="ftr" sz="quarter" idx="11"/>
          </p:nvPr>
        </p:nvSpPr>
        <p:spPr/>
        <p:txBody>
          <a:bodyPr/>
          <a:lstStyle/>
          <a:p>
            <a:pPr algn="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8457A-3AB9-4880-8A0C-9F8524491207}" type="datetime2">
              <a:rPr lang="en-US" smtClean="0"/>
              <a:t>Thursday, June 23, 16</a:t>
            </a:fld>
            <a:endParaRPr lang="en-US"/>
          </a:p>
        </p:txBody>
      </p:sp>
      <p:sp>
        <p:nvSpPr>
          <p:cNvPr id="3" name="Footer Placeholder 2"/>
          <p:cNvSpPr>
            <a:spLocks noGrp="1"/>
          </p:cNvSpPr>
          <p:nvPr>
            <p:ph type="ftr" sz="quarter" idx="11"/>
          </p:nvPr>
        </p:nvSpPr>
        <p:spPr/>
        <p:txBody>
          <a:bodyPr/>
          <a:lstStyle/>
          <a:p>
            <a:pPr algn="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E976D3-5B7F-4300-ABED-C91F1B2AE209}" type="datetime2">
              <a:rPr lang="en-US" smtClean="0"/>
              <a:t>Thursday, June 23, 16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DC1E59-17DD-41CE-97CA-624A472382D4}" type="datetime2">
              <a:rPr lang="en-US" smtClean="0"/>
              <a:t>Thursday, June 23, 16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C057FC-95B6-4D89-AFDA-ABA33EE921E5}" type="datetime2">
              <a:rPr lang="en-US" smtClean="0"/>
              <a:t>Thursday, June 23, 16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C4549AC-EB31-477F-92A9-B1988E232878}" type="datetime2">
              <a:rPr lang="en-US" smtClean="0"/>
              <a:t>Thursday, June 23, 16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A80CB818-7379-467D-8E76-EF9D9074A26C}" type="datetime2">
              <a:rPr lang="en-US" smtClean="0"/>
              <a:t>Thursday, June 23, 16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lgn="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CFEC368-1D7A-4F81-ABF6-AE0E36BAF64C}" type="slidenum">
              <a:rPr lang="en-US" smtClean="0"/>
              <a:pPr/>
              <a:t>‹#›</a:t>
            </a:fld>
            <a:endParaRPr lang="en-US" dirty="0"/>
          </a:p>
        </p:txBody>
      </p:sp>
      <p:graphicFrame>
        <p:nvGraphicFramePr>
          <p:cNvPr id="9" name="Shape 16"/>
          <p:cNvGraphicFramePr/>
          <p:nvPr userDrawn="1">
            <p:extLst>
              <p:ext uri="{D42A27DB-BD31-4B8C-83A1-F6EECF244321}">
                <p14:modId xmlns:p14="http://schemas.microsoft.com/office/powerpoint/2010/main" val="1273531927"/>
              </p:ext>
            </p:extLst>
          </p:nvPr>
        </p:nvGraphicFramePr>
        <p:xfrm>
          <a:off x="457200" y="6477000"/>
          <a:ext cx="8230000" cy="350490"/>
        </p:xfrm>
        <a:graphic>
          <a:graphicData uri="http://schemas.openxmlformats.org/drawingml/2006/table">
            <a:tbl>
              <a:tblPr>
                <a:noFill/>
              </a:tblPr>
              <a:tblGrid>
                <a:gridCol w="4115000"/>
                <a:gridCol w="4115000"/>
              </a:tblGrid>
              <a:tr h="296950">
                <a:tc>
                  <a:txBody>
                    <a:bodyPr/>
                    <a:lstStyle/>
                    <a:p>
                      <a:pPr rtl="0">
                        <a:spcBef>
                          <a:spcPts val="0"/>
                        </a:spcBef>
                        <a:buNone/>
                      </a:pPr>
                      <a:r>
                        <a:rPr lang="en-US" sz="1100" dirty="0">
                          <a:solidFill>
                            <a:srgbClr val="7F7F7F"/>
                          </a:solidFill>
                        </a:rPr>
                        <a:t>Stanford </a:t>
                      </a:r>
                      <a:r>
                        <a:rPr lang="en-US" sz="1100" dirty="0" smtClean="0">
                          <a:solidFill>
                            <a:srgbClr val="7F7F7F"/>
                          </a:solidFill>
                        </a:rPr>
                        <a:t>Summer Institutes</a:t>
                      </a:r>
                      <a:endParaRPr lang="en-US" sz="1100" dirty="0">
                        <a:solidFill>
                          <a:srgbClr val="7F7F7F"/>
                        </a:solidFill>
                      </a:endParaRPr>
                    </a:p>
                  </a:txBody>
                  <a:tcPr marL="91425" marR="91425" marT="91425" marB="91425" anchor="b">
                    <a:lnL w="9525" cap="flat" cmpd="sng">
                      <a:solidFill>
                        <a:srgbClr val="7F7F7F">
                          <a:alpha val="0"/>
                        </a:srgbClr>
                      </a:solidFill>
                      <a:prstDash val="solid"/>
                      <a:round/>
                      <a:headEnd type="none" w="med" len="med"/>
                      <a:tailEnd type="none" w="med" len="med"/>
                    </a:lnL>
                    <a:lnR w="9525" cap="flat" cmpd="sng">
                      <a:solidFill>
                        <a:srgbClr val="7F7F7F">
                          <a:alpha val="0"/>
                        </a:srgbClr>
                      </a:solidFill>
                      <a:prstDash val="solid"/>
                      <a:round/>
                      <a:headEnd type="none" w="med" len="med"/>
                      <a:tailEnd type="none" w="med" len="med"/>
                    </a:lnR>
                    <a:lnT w="9525" cap="flat" cmpd="sng">
                      <a:solidFill>
                        <a:srgbClr val="7F7F7F">
                          <a:alpha val="0"/>
                        </a:srgbClr>
                      </a:solidFill>
                      <a:prstDash val="solid"/>
                      <a:round/>
                      <a:headEnd type="none" w="med" len="med"/>
                      <a:tailEnd type="none" w="med" len="med"/>
                    </a:lnT>
                    <a:lnB w="9525" cap="flat" cmpd="sng">
                      <a:solidFill>
                        <a:srgbClr val="7F7F7F">
                          <a:alpha val="0"/>
                        </a:srgbClr>
                      </a:solidFill>
                      <a:prstDash val="solid"/>
                      <a:round/>
                      <a:headEnd type="none" w="med" len="med"/>
                      <a:tailEnd type="none" w="med" len="med"/>
                    </a:lnB>
                  </a:tcPr>
                </a:tc>
                <a:tc>
                  <a:txBody>
                    <a:bodyPr/>
                    <a:lstStyle/>
                    <a:p>
                      <a:pPr algn="r" rtl="0">
                        <a:spcBef>
                          <a:spcPts val="0"/>
                        </a:spcBef>
                        <a:buNone/>
                      </a:pPr>
                      <a:r>
                        <a:rPr lang="en-US" sz="1100" dirty="0">
                          <a:solidFill>
                            <a:srgbClr val="7F7F7F"/>
                          </a:solidFill>
                        </a:rPr>
                        <a:t>© </a:t>
                      </a:r>
                      <a:r>
                        <a:rPr lang="en-US" sz="1100" dirty="0" smtClean="0">
                          <a:solidFill>
                            <a:srgbClr val="7F7F7F"/>
                          </a:solidFill>
                        </a:rPr>
                        <a:t> </a:t>
                      </a:r>
                      <a:r>
                        <a:rPr lang="en-US" sz="1100" dirty="0">
                          <a:solidFill>
                            <a:srgbClr val="7F7F7F"/>
                          </a:solidFill>
                        </a:rPr>
                        <a:t>David </a:t>
                      </a:r>
                      <a:r>
                        <a:rPr lang="en-US" sz="1100" dirty="0" smtClean="0">
                          <a:solidFill>
                            <a:srgbClr val="7F7F7F"/>
                          </a:solidFill>
                        </a:rPr>
                        <a:t>Zhu &amp; Qin Chen</a:t>
                      </a:r>
                      <a:endParaRPr lang="en-US" sz="1100" dirty="0">
                        <a:solidFill>
                          <a:srgbClr val="7F7F7F"/>
                        </a:solidFill>
                      </a:endParaRPr>
                    </a:p>
                  </a:txBody>
                  <a:tcPr marL="91425" marR="91425" marT="91425" marB="91425" anchor="b">
                    <a:lnL w="9525" cap="flat" cmpd="sng">
                      <a:solidFill>
                        <a:srgbClr val="7F7F7F">
                          <a:alpha val="0"/>
                        </a:srgbClr>
                      </a:solidFill>
                      <a:prstDash val="solid"/>
                      <a:round/>
                      <a:headEnd type="none" w="med" len="med"/>
                      <a:tailEnd type="none" w="med" len="med"/>
                    </a:lnL>
                    <a:lnR w="9525" cap="flat" cmpd="sng">
                      <a:solidFill>
                        <a:srgbClr val="7F7F7F">
                          <a:alpha val="0"/>
                        </a:srgbClr>
                      </a:solidFill>
                      <a:prstDash val="solid"/>
                      <a:round/>
                      <a:headEnd type="none" w="med" len="med"/>
                      <a:tailEnd type="none" w="med" len="med"/>
                    </a:lnR>
                    <a:lnT w="9525" cap="flat" cmpd="sng">
                      <a:solidFill>
                        <a:srgbClr val="7F7F7F">
                          <a:alpha val="0"/>
                        </a:srgbClr>
                      </a:solidFill>
                      <a:prstDash val="solid"/>
                      <a:round/>
                      <a:headEnd type="none" w="med" len="med"/>
                      <a:tailEnd type="none" w="med" len="med"/>
                    </a:lnT>
                    <a:lnB w="9525" cap="flat" cmpd="sng">
                      <a:solidFill>
                        <a:srgbClr val="7F7F7F">
                          <a:alpha val="0"/>
                        </a:srgbClr>
                      </a:solidFill>
                      <a:prstDash val="solid"/>
                      <a:round/>
                      <a:headEnd type="none" w="med" len="med"/>
                      <a:tailEnd type="none" w="med" len="med"/>
                    </a:lnB>
                  </a:tcPr>
                </a:tc>
              </a:tr>
            </a:tbl>
          </a:graphicData>
        </a:graphic>
      </p:graphicFrame>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hf sldNum="0" hdr="0" ftr="0" dt="0"/>
  <p:txStyles>
    <p:titleStyle>
      <a:lvl1pPr algn="l" defTabSz="914400" rtl="0" eaLnBrk="1" latinLnBrk="0" hangingPunct="1">
        <a:spcBef>
          <a:spcPct val="0"/>
        </a:spcBef>
        <a:buNone/>
        <a:defRPr sz="4000" kern="1200" spc="-100" baseline="0">
          <a:solidFill>
            <a:srgbClr val="800000"/>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a:t>Stanford summer Institutes </a:t>
            </a:r>
            <a:endParaRPr lang="en-US" sz="4400" dirty="0">
              <a:solidFill>
                <a:srgbClr val="800000"/>
              </a:solidFill>
            </a:endParaRPr>
          </a:p>
        </p:txBody>
      </p:sp>
      <p:sp>
        <p:nvSpPr>
          <p:cNvPr id="3" name="Subtitle 2"/>
          <p:cNvSpPr>
            <a:spLocks noGrp="1"/>
          </p:cNvSpPr>
          <p:nvPr>
            <p:ph type="subTitle" idx="1"/>
          </p:nvPr>
        </p:nvSpPr>
        <p:spPr>
          <a:xfrm>
            <a:off x="685800" y="3505200"/>
            <a:ext cx="6400800" cy="2146300"/>
          </a:xfrm>
        </p:spPr>
        <p:txBody>
          <a:bodyPr>
            <a:normAutofit/>
          </a:bodyPr>
          <a:lstStyle/>
          <a:p>
            <a:r>
              <a:rPr lang="en-US" sz="2800" dirty="0" smtClean="0">
                <a:solidFill>
                  <a:schemeClr val="bg1">
                    <a:lumMod val="50000"/>
                  </a:schemeClr>
                </a:solidFill>
              </a:rPr>
              <a:t>Robot Programming</a:t>
            </a:r>
          </a:p>
          <a:p>
            <a:endParaRPr lang="en-US" sz="2800" dirty="0">
              <a:solidFill>
                <a:schemeClr val="bg1">
                  <a:lumMod val="50000"/>
                </a:schemeClr>
              </a:solidFill>
            </a:endParaRPr>
          </a:p>
          <a:p>
            <a:r>
              <a:rPr lang="en-US" sz="2800" dirty="0" smtClean="0">
                <a:solidFill>
                  <a:schemeClr val="bg1">
                    <a:lumMod val="50000"/>
                  </a:schemeClr>
                </a:solidFill>
              </a:rPr>
              <a:t>D5: Event Driven Programming: </a:t>
            </a:r>
          </a:p>
          <a:p>
            <a:r>
              <a:rPr lang="en-US" dirty="0" smtClean="0">
                <a:solidFill>
                  <a:schemeClr val="bg1">
                    <a:lumMod val="50000"/>
                  </a:schemeClr>
                </a:solidFill>
              </a:rPr>
              <a:t>Finite State Machine (FSM)</a:t>
            </a:r>
          </a:p>
        </p:txBody>
      </p:sp>
    </p:spTree>
    <p:extLst>
      <p:ext uri="{BB962C8B-B14F-4D97-AF65-F5344CB8AC3E}">
        <p14:creationId xmlns:p14="http://schemas.microsoft.com/office/powerpoint/2010/main" val="228267210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6-06-24 at 8.41.51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30250" y="863600"/>
            <a:ext cx="7962900" cy="4826000"/>
          </a:xfrm>
          <a:prstGeom prst="rect">
            <a:avLst/>
          </a:prstGeom>
        </p:spPr>
      </p:pic>
    </p:spTree>
    <p:extLst>
      <p:ext uri="{BB962C8B-B14F-4D97-AF65-F5344CB8AC3E}">
        <p14:creationId xmlns:p14="http://schemas.microsoft.com/office/powerpoint/2010/main" val="2691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341" y="606617"/>
            <a:ext cx="8229600" cy="990600"/>
          </a:xfrm>
        </p:spPr>
        <p:txBody>
          <a:bodyPr/>
          <a:lstStyle/>
          <a:p>
            <a:pPr algn="ctr"/>
            <a:r>
              <a:rPr lang="en-US" dirty="0" smtClean="0"/>
              <a:t>How Do You Feel?</a:t>
            </a:r>
            <a:endParaRPr lang="en-US" dirty="0"/>
          </a:p>
        </p:txBody>
      </p:sp>
      <p:pic>
        <p:nvPicPr>
          <p:cNvPr id="3" name="Picture 2" descr="Screen Shot 2016-06-24 at 7.52.52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68400" y="1597217"/>
            <a:ext cx="6832600" cy="4295390"/>
          </a:xfrm>
          <a:prstGeom prst="rect">
            <a:avLst/>
          </a:prstGeom>
        </p:spPr>
      </p:pic>
    </p:spTree>
    <p:extLst>
      <p:ext uri="{BB962C8B-B14F-4D97-AF65-F5344CB8AC3E}">
        <p14:creationId xmlns:p14="http://schemas.microsoft.com/office/powerpoint/2010/main" val="120397012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 …</a:t>
            </a:r>
            <a:endParaRPr lang="en-US" dirty="0"/>
          </a:p>
        </p:txBody>
      </p:sp>
      <p:pic>
        <p:nvPicPr>
          <p:cNvPr id="4" name="Picture 3" descr="Screen Shot 2016-06-24 at 7.56.03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4050" y="1625600"/>
            <a:ext cx="7550150" cy="4325725"/>
          </a:xfrm>
          <a:prstGeom prst="rect">
            <a:avLst/>
          </a:prstGeom>
        </p:spPr>
      </p:pic>
    </p:spTree>
    <p:extLst>
      <p:ext uri="{BB962C8B-B14F-4D97-AF65-F5344CB8AC3E}">
        <p14:creationId xmlns:p14="http://schemas.microsoft.com/office/powerpoint/2010/main" val="121845043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741" y="581217"/>
            <a:ext cx="8229600" cy="990600"/>
          </a:xfrm>
        </p:spPr>
        <p:txBody>
          <a:bodyPr/>
          <a:lstStyle/>
          <a:p>
            <a:pPr algn="ctr"/>
            <a:r>
              <a:rPr lang="en-US" dirty="0" smtClean="0"/>
              <a:t>A Little Bit Of This?</a:t>
            </a:r>
            <a:endParaRPr lang="en-US" dirty="0"/>
          </a:p>
        </p:txBody>
      </p:sp>
      <p:pic>
        <p:nvPicPr>
          <p:cNvPr id="4" name="Picture 3" descr="Screen Shot 2015-09-25 at 10.54.53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2496036"/>
            <a:ext cx="9144000" cy="3302347"/>
          </a:xfrm>
          <a:prstGeom prst="rect">
            <a:avLst/>
          </a:prstGeom>
        </p:spPr>
      </p:pic>
    </p:spTree>
    <p:extLst>
      <p:ext uri="{BB962C8B-B14F-4D97-AF65-F5344CB8AC3E}">
        <p14:creationId xmlns:p14="http://schemas.microsoft.com/office/powerpoint/2010/main" val="2004630155"/>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You Are Learning College Level Material</a:t>
            </a:r>
            <a:endParaRPr lang="en-US" dirty="0"/>
          </a:p>
        </p:txBody>
      </p:sp>
      <p:pic>
        <p:nvPicPr>
          <p:cNvPr id="4" name="Picture 3" descr="Screen Shot 2016-06-23 at 10.08.51 P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4787" y="1524000"/>
            <a:ext cx="5486313" cy="4732654"/>
          </a:xfrm>
          <a:prstGeom prst="rect">
            <a:avLst/>
          </a:prstGeom>
        </p:spPr>
      </p:pic>
      <p:sp>
        <p:nvSpPr>
          <p:cNvPr id="5" name="TextBox 4"/>
          <p:cNvSpPr txBox="1"/>
          <p:nvPr/>
        </p:nvSpPr>
        <p:spPr>
          <a:xfrm>
            <a:off x="6718300" y="3213100"/>
            <a:ext cx="1595309" cy="369332"/>
          </a:xfrm>
          <a:prstGeom prst="rect">
            <a:avLst/>
          </a:prstGeom>
          <a:noFill/>
        </p:spPr>
        <p:txBody>
          <a:bodyPr wrap="none" rtlCol="0">
            <a:spAutoFit/>
          </a:bodyPr>
          <a:lstStyle/>
          <a:p>
            <a:r>
              <a:rPr lang="en-US" dirty="0" smtClean="0"/>
              <a:t>Two weeks of </a:t>
            </a:r>
            <a:endParaRPr lang="en-US" dirty="0"/>
          </a:p>
        </p:txBody>
      </p:sp>
    </p:spTree>
    <p:extLst>
      <p:ext uri="{BB962C8B-B14F-4D97-AF65-F5344CB8AC3E}">
        <p14:creationId xmlns:p14="http://schemas.microsoft.com/office/powerpoint/2010/main" val="4032901001"/>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Ask Questions and Help Each Other</a:t>
            </a:r>
            <a:endParaRPr lang="en-US" dirty="0"/>
          </a:p>
        </p:txBody>
      </p:sp>
      <p:sp>
        <p:nvSpPr>
          <p:cNvPr id="3" name="Content Placeholder 2"/>
          <p:cNvSpPr>
            <a:spLocks noGrp="1"/>
          </p:cNvSpPr>
          <p:nvPr>
            <p:ph idx="1"/>
          </p:nvPr>
        </p:nvSpPr>
        <p:spPr/>
        <p:txBody>
          <a:bodyPr/>
          <a:lstStyle/>
          <a:p>
            <a:r>
              <a:rPr lang="en-US" dirty="0" smtClean="0"/>
              <a:t>Don’t Afraid To Ask Questions</a:t>
            </a:r>
          </a:p>
          <a:p>
            <a:r>
              <a:rPr lang="en-US" dirty="0" smtClean="0"/>
              <a:t>By Answering Some One Else Questions, You Learn more</a:t>
            </a:r>
          </a:p>
        </p:txBody>
      </p:sp>
    </p:spTree>
    <p:extLst>
      <p:ext uri="{BB962C8B-B14F-4D97-AF65-F5344CB8AC3E}">
        <p14:creationId xmlns:p14="http://schemas.microsoft.com/office/powerpoint/2010/main" val="4292413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Explore !</a:t>
            </a:r>
            <a:endParaRPr lang="en-US" dirty="0"/>
          </a:p>
        </p:txBody>
      </p:sp>
      <p:sp>
        <p:nvSpPr>
          <p:cNvPr id="3" name="Content Placeholder 2"/>
          <p:cNvSpPr>
            <a:spLocks noGrp="1"/>
          </p:cNvSpPr>
          <p:nvPr>
            <p:ph idx="1"/>
          </p:nvPr>
        </p:nvSpPr>
        <p:spPr/>
        <p:txBody>
          <a:bodyPr/>
          <a:lstStyle/>
          <a:p>
            <a:r>
              <a:rPr lang="en-US" dirty="0" smtClean="0"/>
              <a:t>“Robot Symphony”?</a:t>
            </a:r>
          </a:p>
          <a:p>
            <a:r>
              <a:rPr lang="en-US" dirty="0" smtClean="0"/>
              <a:t>Come up with your own fun projects</a:t>
            </a:r>
          </a:p>
        </p:txBody>
      </p:sp>
    </p:spTree>
    <p:extLst>
      <p:ext uri="{BB962C8B-B14F-4D97-AF65-F5344CB8AC3E}">
        <p14:creationId xmlns:p14="http://schemas.microsoft.com/office/powerpoint/2010/main" val="150863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a:t>
            </a:r>
            <a:endParaRPr lang="en-US" dirty="0"/>
          </a:p>
        </p:txBody>
      </p:sp>
      <p:sp>
        <p:nvSpPr>
          <p:cNvPr id="3" name="Content Placeholder 2"/>
          <p:cNvSpPr>
            <a:spLocks noGrp="1"/>
          </p:cNvSpPr>
          <p:nvPr>
            <p:ph idx="1"/>
          </p:nvPr>
        </p:nvSpPr>
        <p:spPr/>
        <p:txBody>
          <a:bodyPr/>
          <a:lstStyle/>
          <a:p>
            <a:r>
              <a:rPr lang="en-US" dirty="0" smtClean="0"/>
              <a:t>A Week In Review</a:t>
            </a:r>
          </a:p>
          <a:p>
            <a:pPr lvl="1"/>
            <a:r>
              <a:rPr lang="en-US" dirty="0" smtClean="0"/>
              <a:t>Robot Control / Closed-Loop (PID)</a:t>
            </a:r>
          </a:p>
          <a:p>
            <a:pPr lvl="1"/>
            <a:r>
              <a:rPr lang="en-US" dirty="0" err="1" smtClean="0"/>
              <a:t>Tkinter</a:t>
            </a:r>
            <a:r>
              <a:rPr lang="en-US" dirty="0" smtClean="0"/>
              <a:t>: Build Your Own GUI </a:t>
            </a:r>
            <a:endParaRPr lang="en-US" dirty="0" smtClean="0"/>
          </a:p>
          <a:p>
            <a:pPr lvl="1"/>
            <a:r>
              <a:rPr lang="en-US" dirty="0" smtClean="0"/>
              <a:t>Threads and Queues</a:t>
            </a:r>
          </a:p>
          <a:p>
            <a:pPr lvl="1"/>
            <a:r>
              <a:rPr lang="en-US" dirty="0" smtClean="0"/>
              <a:t>Dispatcher and Handler</a:t>
            </a:r>
          </a:p>
          <a:p>
            <a:pPr lvl="1"/>
            <a:r>
              <a:rPr lang="en-US" dirty="0" smtClean="0"/>
              <a:t>Review of Lab #4 Code</a:t>
            </a:r>
            <a:endParaRPr lang="en-US" dirty="0" smtClean="0"/>
          </a:p>
          <a:p>
            <a:r>
              <a:rPr lang="en-US" dirty="0" smtClean="0"/>
              <a:t>Finite </a:t>
            </a:r>
            <a:r>
              <a:rPr lang="en-US" dirty="0" smtClean="0"/>
              <a:t>State Machine (FSM)</a:t>
            </a:r>
          </a:p>
          <a:p>
            <a:pPr lvl="1"/>
            <a:r>
              <a:rPr lang="en-US" dirty="0" smtClean="0"/>
              <a:t>What are FSM’s</a:t>
            </a:r>
          </a:p>
          <a:p>
            <a:pPr lvl="1"/>
            <a:r>
              <a:rPr lang="en-US" dirty="0" smtClean="0"/>
              <a:t>Why / When to use FSM</a:t>
            </a:r>
          </a:p>
          <a:p>
            <a:r>
              <a:rPr lang="en-US" dirty="0" smtClean="0"/>
              <a:t>Implementing of Finite State Machines</a:t>
            </a:r>
          </a:p>
          <a:p>
            <a:r>
              <a:rPr lang="en-US" dirty="0" smtClean="0"/>
              <a:t>Lab Assignment</a:t>
            </a:r>
          </a:p>
        </p:txBody>
      </p:sp>
    </p:spTree>
    <p:extLst>
      <p:ext uri="{BB962C8B-B14F-4D97-AF65-F5344CB8AC3E}">
        <p14:creationId xmlns:p14="http://schemas.microsoft.com/office/powerpoint/2010/main" val="3403364821"/>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Threads: Don’t “Over Think”</a:t>
            </a:r>
            <a:endParaRPr lang="en-US" dirty="0"/>
          </a:p>
        </p:txBody>
      </p:sp>
      <p:sp>
        <p:nvSpPr>
          <p:cNvPr id="3" name="Content Placeholder 2"/>
          <p:cNvSpPr>
            <a:spLocks noGrp="1"/>
          </p:cNvSpPr>
          <p:nvPr>
            <p:ph idx="1"/>
          </p:nvPr>
        </p:nvSpPr>
        <p:spPr/>
        <p:txBody>
          <a:bodyPr/>
          <a:lstStyle/>
          <a:p>
            <a:r>
              <a:rPr lang="en-US" dirty="0" smtClean="0"/>
              <a:t>Doing work in parallel</a:t>
            </a:r>
            <a:endParaRPr lang="en-US" dirty="0"/>
          </a:p>
        </p:txBody>
      </p:sp>
      <p:pic>
        <p:nvPicPr>
          <p:cNvPr id="5" name="Picture 4" descr="Screen Shot 2016-06-24 at 8.25.34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457700" y="1696644"/>
            <a:ext cx="3695700" cy="4500956"/>
          </a:xfrm>
          <a:prstGeom prst="rect">
            <a:avLst/>
          </a:prstGeom>
        </p:spPr>
      </p:pic>
    </p:spTree>
    <p:extLst>
      <p:ext uri="{BB962C8B-B14F-4D97-AF65-F5344CB8AC3E}">
        <p14:creationId xmlns:p14="http://schemas.microsoft.com/office/powerpoint/2010/main" val="1210808751"/>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Queues: </a:t>
            </a:r>
            <a:endParaRPr lang="en-US" dirty="0"/>
          </a:p>
        </p:txBody>
      </p:sp>
      <p:sp>
        <p:nvSpPr>
          <p:cNvPr id="3" name="Content Placeholder 2"/>
          <p:cNvSpPr>
            <a:spLocks noGrp="1"/>
          </p:cNvSpPr>
          <p:nvPr>
            <p:ph idx="1"/>
          </p:nvPr>
        </p:nvSpPr>
        <p:spPr>
          <a:xfrm>
            <a:off x="457200" y="1600200"/>
            <a:ext cx="5740400" cy="4876800"/>
          </a:xfrm>
        </p:spPr>
        <p:txBody>
          <a:bodyPr/>
          <a:lstStyle/>
          <a:p>
            <a:r>
              <a:rPr lang="en-US" dirty="0" smtClean="0"/>
              <a:t>Just like List, Array, a data structure for storing multiple items</a:t>
            </a:r>
          </a:p>
          <a:p>
            <a:r>
              <a:rPr lang="en-US" dirty="0" smtClean="0"/>
              <a:t>Put: puts an item on a queue</a:t>
            </a:r>
          </a:p>
          <a:p>
            <a:r>
              <a:rPr lang="en-US" dirty="0" smtClean="0"/>
              <a:t>Get: takes an item from a queue</a:t>
            </a:r>
          </a:p>
          <a:p>
            <a:r>
              <a:rPr lang="en-US" dirty="0" smtClean="0"/>
              <a:t>Queues are used for communicating between threads</a:t>
            </a:r>
          </a:p>
          <a:p>
            <a:r>
              <a:rPr lang="en-US" dirty="0" smtClean="0"/>
              <a:t>Queues are “thread safe”</a:t>
            </a:r>
          </a:p>
        </p:txBody>
      </p:sp>
      <p:pic>
        <p:nvPicPr>
          <p:cNvPr id="4" name="Picture 3" descr="Screen Shot 2016-06-23 at 10.28.29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18498" y="1397000"/>
            <a:ext cx="2093701" cy="4927600"/>
          </a:xfrm>
          <a:prstGeom prst="rect">
            <a:avLst/>
          </a:prstGeom>
        </p:spPr>
      </p:pic>
    </p:spTree>
    <p:extLst>
      <p:ext uri="{BB962C8B-B14F-4D97-AF65-F5344CB8AC3E}">
        <p14:creationId xmlns:p14="http://schemas.microsoft.com/office/powerpoint/2010/main" val="3985645898"/>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432800" cy="990600"/>
          </a:xfrm>
        </p:spPr>
        <p:txBody>
          <a:bodyPr>
            <a:noAutofit/>
          </a:bodyPr>
          <a:lstStyle/>
          <a:p>
            <a:r>
              <a:rPr lang="en-US" sz="3200" dirty="0" smtClean="0">
                <a:solidFill>
                  <a:srgbClr val="800000"/>
                </a:solidFill>
              </a:rPr>
              <a:t>Event Driven </a:t>
            </a:r>
            <a:r>
              <a:rPr lang="en-US" sz="3200" dirty="0" smtClean="0">
                <a:solidFill>
                  <a:srgbClr val="800000"/>
                </a:solidFill>
              </a:rPr>
              <a:t>Programming Implementation</a:t>
            </a:r>
            <a:endParaRPr lang="en-US" sz="3200" dirty="0">
              <a:solidFill>
                <a:srgbClr val="800000"/>
              </a:solidFill>
            </a:endParaRPr>
          </a:p>
        </p:txBody>
      </p:sp>
      <p:sp>
        <p:nvSpPr>
          <p:cNvPr id="5" name="Content Placeholder 2"/>
          <p:cNvSpPr>
            <a:spLocks noGrp="1"/>
          </p:cNvSpPr>
          <p:nvPr>
            <p:ph idx="1"/>
          </p:nvPr>
        </p:nvSpPr>
        <p:spPr>
          <a:xfrm>
            <a:off x="457200" y="1600199"/>
            <a:ext cx="4114800" cy="4089401"/>
          </a:xfrm>
        </p:spPr>
        <p:txBody>
          <a:bodyPr>
            <a:noAutofit/>
          </a:bodyPr>
          <a:lstStyle/>
          <a:p>
            <a:r>
              <a:rPr lang="en-US" b="1" dirty="0" smtClean="0"/>
              <a:t>Event Dispatcher</a:t>
            </a:r>
          </a:p>
          <a:p>
            <a:pPr lvl="1"/>
            <a:r>
              <a:rPr lang="en-US" dirty="0" smtClean="0">
                <a:solidFill>
                  <a:srgbClr val="7F7F7F"/>
                </a:solidFill>
              </a:rPr>
              <a:t>Monitor events and “dispatch” to handlers</a:t>
            </a:r>
          </a:p>
          <a:p>
            <a:r>
              <a:rPr lang="en-US" b="1" dirty="0" smtClean="0">
                <a:solidFill>
                  <a:srgbClr val="292934"/>
                </a:solidFill>
              </a:rPr>
              <a:t>Event Handlers</a:t>
            </a:r>
          </a:p>
          <a:p>
            <a:pPr lvl="1"/>
            <a:r>
              <a:rPr lang="en-US" dirty="0" smtClean="0">
                <a:solidFill>
                  <a:srgbClr val="7F7F7F"/>
                </a:solidFill>
              </a:rPr>
              <a:t>Program waits for events</a:t>
            </a:r>
          </a:p>
          <a:p>
            <a:pPr lvl="1"/>
            <a:r>
              <a:rPr lang="en-US" dirty="0" smtClean="0">
                <a:solidFill>
                  <a:srgbClr val="7F7F7F"/>
                </a:solidFill>
              </a:rPr>
              <a:t>When certain events happen, the program responds and does something (or decides to do nothing)</a:t>
            </a:r>
          </a:p>
        </p:txBody>
      </p:sp>
      <p:sp>
        <p:nvSpPr>
          <p:cNvPr id="3" name="Rectangle 2"/>
          <p:cNvSpPr/>
          <p:nvPr/>
        </p:nvSpPr>
        <p:spPr>
          <a:xfrm>
            <a:off x="4731788" y="1600199"/>
            <a:ext cx="1028700" cy="4699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Event Sourcee1</a:t>
            </a:r>
            <a:endParaRPr lang="en-US" sz="1400" dirty="0"/>
          </a:p>
        </p:txBody>
      </p:sp>
      <p:sp>
        <p:nvSpPr>
          <p:cNvPr id="7" name="Rectangle 6"/>
          <p:cNvSpPr/>
          <p:nvPr/>
        </p:nvSpPr>
        <p:spPr>
          <a:xfrm>
            <a:off x="6192288" y="1600199"/>
            <a:ext cx="1028700" cy="4699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Event Sourcee2</a:t>
            </a:r>
            <a:endParaRPr lang="en-US" sz="1400" dirty="0"/>
          </a:p>
        </p:txBody>
      </p:sp>
      <p:sp>
        <p:nvSpPr>
          <p:cNvPr id="8" name="Rectangle 7"/>
          <p:cNvSpPr/>
          <p:nvPr/>
        </p:nvSpPr>
        <p:spPr>
          <a:xfrm>
            <a:off x="7665488" y="1600199"/>
            <a:ext cx="1028700" cy="4699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Event Sourcee3</a:t>
            </a:r>
            <a:endParaRPr lang="en-US" sz="1400" dirty="0"/>
          </a:p>
        </p:txBody>
      </p:sp>
      <p:sp>
        <p:nvSpPr>
          <p:cNvPr id="4" name="Oval 3"/>
          <p:cNvSpPr/>
          <p:nvPr/>
        </p:nvSpPr>
        <p:spPr>
          <a:xfrm>
            <a:off x="5671588" y="2705100"/>
            <a:ext cx="2062712" cy="8382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Event Dispatcher</a:t>
            </a:r>
            <a:endParaRPr lang="en-US" dirty="0"/>
          </a:p>
        </p:txBody>
      </p:sp>
      <p:cxnSp>
        <p:nvCxnSpPr>
          <p:cNvPr id="10" name="Straight Arrow Connector 9"/>
          <p:cNvCxnSpPr>
            <a:stCxn id="7" idx="2"/>
            <a:endCxn id="4" idx="0"/>
          </p:cNvCxnSpPr>
          <p:nvPr/>
        </p:nvCxnSpPr>
        <p:spPr>
          <a:xfrm flipH="1">
            <a:off x="6702944" y="2070099"/>
            <a:ext cx="3694" cy="6350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3" idx="2"/>
            <a:endCxn id="4" idx="1"/>
          </p:cNvCxnSpPr>
          <p:nvPr/>
        </p:nvCxnSpPr>
        <p:spPr>
          <a:xfrm>
            <a:off x="5246138" y="2070099"/>
            <a:ext cx="727527" cy="7577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8" idx="2"/>
            <a:endCxn id="4" idx="7"/>
          </p:cNvCxnSpPr>
          <p:nvPr/>
        </p:nvCxnSpPr>
        <p:spPr>
          <a:xfrm flipH="1">
            <a:off x="7432223" y="2070099"/>
            <a:ext cx="747615" cy="7577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Hexagon 14"/>
          <p:cNvSpPr/>
          <p:nvPr/>
        </p:nvSpPr>
        <p:spPr>
          <a:xfrm>
            <a:off x="4731788" y="4152900"/>
            <a:ext cx="1244600" cy="508000"/>
          </a:xfrm>
          <a:prstGeom prst="hex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Event</a:t>
            </a:r>
          </a:p>
          <a:p>
            <a:pPr algn="ctr"/>
            <a:r>
              <a:rPr lang="en-US" sz="1400" dirty="0" smtClean="0"/>
              <a:t>Handler1</a:t>
            </a:r>
            <a:endParaRPr lang="en-US" sz="1400" dirty="0"/>
          </a:p>
        </p:txBody>
      </p:sp>
      <p:sp>
        <p:nvSpPr>
          <p:cNvPr id="16" name="Hexagon 15"/>
          <p:cNvSpPr/>
          <p:nvPr/>
        </p:nvSpPr>
        <p:spPr>
          <a:xfrm>
            <a:off x="7557538" y="4152900"/>
            <a:ext cx="1244600" cy="508000"/>
          </a:xfrm>
          <a:prstGeom prst="hex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Event</a:t>
            </a:r>
          </a:p>
          <a:p>
            <a:pPr algn="ctr"/>
            <a:r>
              <a:rPr lang="en-US" sz="1400" dirty="0" smtClean="0"/>
              <a:t>Handler2</a:t>
            </a:r>
            <a:endParaRPr lang="en-US" sz="1400" dirty="0"/>
          </a:p>
        </p:txBody>
      </p:sp>
      <p:cxnSp>
        <p:nvCxnSpPr>
          <p:cNvPr id="18" name="Straight Arrow Connector 17"/>
          <p:cNvCxnSpPr>
            <a:stCxn id="4" idx="3"/>
          </p:cNvCxnSpPr>
          <p:nvPr/>
        </p:nvCxnSpPr>
        <p:spPr>
          <a:xfrm flipH="1">
            <a:off x="5346700" y="3420548"/>
            <a:ext cx="626965" cy="7323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4" idx="5"/>
          </p:cNvCxnSpPr>
          <p:nvPr/>
        </p:nvCxnSpPr>
        <p:spPr>
          <a:xfrm>
            <a:off x="7432223" y="3420548"/>
            <a:ext cx="747615" cy="7323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4926822"/>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How To Implement An Event Driven System</a:t>
            </a:r>
            <a:endParaRPr lang="en-US" sz="3200" dirty="0"/>
          </a:p>
        </p:txBody>
      </p:sp>
      <p:sp>
        <p:nvSpPr>
          <p:cNvPr id="3" name="Content Placeholder 2"/>
          <p:cNvSpPr>
            <a:spLocks noGrp="1"/>
          </p:cNvSpPr>
          <p:nvPr>
            <p:ph idx="1"/>
          </p:nvPr>
        </p:nvSpPr>
        <p:spPr/>
        <p:txBody>
          <a:bodyPr/>
          <a:lstStyle/>
          <a:p>
            <a:r>
              <a:rPr lang="en-US" dirty="0" smtClean="0"/>
              <a:t>Implement “Dispatcher”: monitoring events and dispatch events to appropriate handler(s)</a:t>
            </a:r>
          </a:p>
          <a:p>
            <a:r>
              <a:rPr lang="en-US" dirty="0" smtClean="0"/>
              <a:t>Implement “Handlers”: handles events</a:t>
            </a:r>
          </a:p>
          <a:p>
            <a:r>
              <a:rPr lang="en-US" dirty="0" smtClean="0"/>
              <a:t>Dispatchers communicates with Handlers threads via Queues.</a:t>
            </a:r>
            <a:endParaRPr lang="en-US" dirty="0"/>
          </a:p>
        </p:txBody>
      </p:sp>
    </p:spTree>
    <p:extLst>
      <p:ext uri="{BB962C8B-B14F-4D97-AF65-F5344CB8AC3E}">
        <p14:creationId xmlns:p14="http://schemas.microsoft.com/office/powerpoint/2010/main" val="137770087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 Even-Driven System Using Queues</a:t>
            </a:r>
            <a:endParaRPr lang="en-US" dirty="0"/>
          </a:p>
        </p:txBody>
      </p:sp>
      <p:sp>
        <p:nvSpPr>
          <p:cNvPr id="4" name="Rectangle 3"/>
          <p:cNvSpPr/>
          <p:nvPr/>
        </p:nvSpPr>
        <p:spPr>
          <a:xfrm>
            <a:off x="2177241" y="4123869"/>
            <a:ext cx="4387471" cy="874261"/>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3727701" y="5423334"/>
            <a:ext cx="1039137" cy="98972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3892643" y="5531239"/>
            <a:ext cx="280402" cy="209161"/>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4325445" y="5531239"/>
            <a:ext cx="280402" cy="209161"/>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57200" y="2886711"/>
            <a:ext cx="977800" cy="200238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ight Arrow 9"/>
          <p:cNvSpPr/>
          <p:nvPr/>
        </p:nvSpPr>
        <p:spPr>
          <a:xfrm>
            <a:off x="1632931" y="4227953"/>
            <a:ext cx="428850" cy="54435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ight Arrow 10"/>
          <p:cNvSpPr/>
          <p:nvPr/>
        </p:nvSpPr>
        <p:spPr>
          <a:xfrm>
            <a:off x="6750100" y="4288823"/>
            <a:ext cx="428850" cy="54435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2655574" y="4189853"/>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480287" y="4189853"/>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4337987" y="4189853"/>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5117169" y="4189853"/>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5842916" y="4189853"/>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3298857" y="1388091"/>
            <a:ext cx="1682407" cy="989729"/>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rapezoid 17"/>
          <p:cNvSpPr/>
          <p:nvPr/>
        </p:nvSpPr>
        <p:spPr>
          <a:xfrm>
            <a:off x="3183390" y="2377820"/>
            <a:ext cx="1966767" cy="488455"/>
          </a:xfrm>
          <a:prstGeom prst="trapezoid">
            <a:avLst/>
          </a:prstGeom>
          <a:solidFill>
            <a:schemeClr val="accent4">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p:cNvSpPr/>
          <p:nvPr/>
        </p:nvSpPr>
        <p:spPr>
          <a:xfrm>
            <a:off x="7407082" y="4179576"/>
            <a:ext cx="1279721" cy="87589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Handler2</a:t>
            </a:r>
            <a:endParaRPr lang="en-US" sz="1400" dirty="0"/>
          </a:p>
        </p:txBody>
      </p:sp>
      <p:cxnSp>
        <p:nvCxnSpPr>
          <p:cNvPr id="21" name="Straight Arrow Connector 20"/>
          <p:cNvCxnSpPr>
            <a:stCxn id="19" idx="1"/>
          </p:cNvCxnSpPr>
          <p:nvPr/>
        </p:nvCxnSpPr>
        <p:spPr>
          <a:xfrm flipH="1" flipV="1">
            <a:off x="4652541" y="2228312"/>
            <a:ext cx="2941952" cy="207953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19" idx="3"/>
            <a:endCxn id="5" idx="3"/>
          </p:cNvCxnSpPr>
          <p:nvPr/>
        </p:nvCxnSpPr>
        <p:spPr>
          <a:xfrm flipH="1">
            <a:off x="4766838" y="4927200"/>
            <a:ext cx="2827655" cy="9909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5" idx="1"/>
          </p:cNvCxnSpPr>
          <p:nvPr/>
        </p:nvCxnSpPr>
        <p:spPr>
          <a:xfrm flipH="1" flipV="1">
            <a:off x="1435000" y="4889095"/>
            <a:ext cx="2292701" cy="1029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341102" y="3080401"/>
            <a:ext cx="1345698" cy="87589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Handler1</a:t>
            </a:r>
            <a:endParaRPr lang="en-US" sz="1400" dirty="0"/>
          </a:p>
        </p:txBody>
      </p:sp>
      <p:cxnSp>
        <p:nvCxnSpPr>
          <p:cNvPr id="28" name="Straight Arrow Connector 27"/>
          <p:cNvCxnSpPr>
            <a:stCxn id="26" idx="1"/>
          </p:cNvCxnSpPr>
          <p:nvPr/>
        </p:nvCxnSpPr>
        <p:spPr>
          <a:xfrm flipH="1" flipV="1">
            <a:off x="4652541" y="1971691"/>
            <a:ext cx="2885634" cy="123698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26" idx="3"/>
          </p:cNvCxnSpPr>
          <p:nvPr/>
        </p:nvCxnSpPr>
        <p:spPr>
          <a:xfrm flipH="1">
            <a:off x="4652541" y="3828025"/>
            <a:ext cx="2885634" cy="21187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435000" y="5548867"/>
            <a:ext cx="916049" cy="646331"/>
          </a:xfrm>
          <a:prstGeom prst="rect">
            <a:avLst/>
          </a:prstGeom>
          <a:noFill/>
        </p:spPr>
        <p:txBody>
          <a:bodyPr wrap="none" rtlCol="0">
            <a:spAutoFit/>
          </a:bodyPr>
          <a:lstStyle/>
          <a:p>
            <a:r>
              <a:rPr lang="en-US" dirty="0" smtClean="0"/>
              <a:t>Sensor </a:t>
            </a:r>
          </a:p>
          <a:p>
            <a:r>
              <a:rPr lang="en-US" dirty="0" smtClean="0"/>
              <a:t>data</a:t>
            </a:r>
            <a:endParaRPr lang="en-US" dirty="0"/>
          </a:p>
        </p:txBody>
      </p:sp>
      <p:sp>
        <p:nvSpPr>
          <p:cNvPr id="34" name="TextBox 33"/>
          <p:cNvSpPr txBox="1"/>
          <p:nvPr/>
        </p:nvSpPr>
        <p:spPr>
          <a:xfrm>
            <a:off x="6240679" y="5548867"/>
            <a:ext cx="839042" cy="369332"/>
          </a:xfrm>
          <a:prstGeom prst="rect">
            <a:avLst/>
          </a:prstGeom>
          <a:noFill/>
        </p:spPr>
        <p:txBody>
          <a:bodyPr wrap="none" rtlCol="0">
            <a:spAutoFit/>
          </a:bodyPr>
          <a:lstStyle/>
          <a:p>
            <a:r>
              <a:rPr lang="en-US" dirty="0" smtClean="0"/>
              <a:t>Acting</a:t>
            </a:r>
            <a:endParaRPr lang="en-US" dirty="0"/>
          </a:p>
        </p:txBody>
      </p:sp>
      <p:sp>
        <p:nvSpPr>
          <p:cNvPr id="35" name="Rectangle 34"/>
          <p:cNvSpPr/>
          <p:nvPr/>
        </p:nvSpPr>
        <p:spPr>
          <a:xfrm>
            <a:off x="2210229" y="3082036"/>
            <a:ext cx="4387471" cy="874261"/>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ight Arrow 35"/>
          <p:cNvSpPr/>
          <p:nvPr/>
        </p:nvSpPr>
        <p:spPr>
          <a:xfrm>
            <a:off x="1665919" y="3224220"/>
            <a:ext cx="428850" cy="54435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ight Arrow 36"/>
          <p:cNvSpPr/>
          <p:nvPr/>
        </p:nvSpPr>
        <p:spPr>
          <a:xfrm>
            <a:off x="6783088" y="3246990"/>
            <a:ext cx="428850" cy="54435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p:cNvSpPr/>
          <p:nvPr/>
        </p:nvSpPr>
        <p:spPr>
          <a:xfrm>
            <a:off x="4370975" y="3148020"/>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angle 40"/>
          <p:cNvSpPr/>
          <p:nvPr/>
        </p:nvSpPr>
        <p:spPr>
          <a:xfrm>
            <a:off x="5150157" y="3148020"/>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p:cNvSpPr/>
          <p:nvPr/>
        </p:nvSpPr>
        <p:spPr>
          <a:xfrm>
            <a:off x="5875904" y="3148020"/>
            <a:ext cx="494828" cy="742297"/>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TextBox 42"/>
          <p:cNvSpPr txBox="1"/>
          <p:nvPr/>
        </p:nvSpPr>
        <p:spPr>
          <a:xfrm>
            <a:off x="5377079" y="2454020"/>
            <a:ext cx="1544300" cy="369332"/>
          </a:xfrm>
          <a:prstGeom prst="rect">
            <a:avLst/>
          </a:prstGeom>
          <a:noFill/>
        </p:spPr>
        <p:txBody>
          <a:bodyPr wrap="none" rtlCol="0">
            <a:spAutoFit/>
          </a:bodyPr>
          <a:lstStyle/>
          <a:p>
            <a:r>
              <a:rPr lang="en-US" dirty="0" smtClean="0"/>
              <a:t>Draw/Display</a:t>
            </a:r>
            <a:endParaRPr lang="en-US" dirty="0"/>
          </a:p>
        </p:txBody>
      </p:sp>
      <p:cxnSp>
        <p:nvCxnSpPr>
          <p:cNvPr id="7" name="Straight Arrow Connector 6"/>
          <p:cNvCxnSpPr>
            <a:stCxn id="17" idx="1"/>
          </p:cNvCxnSpPr>
          <p:nvPr/>
        </p:nvCxnSpPr>
        <p:spPr>
          <a:xfrm flipH="1">
            <a:off x="1435000" y="1882956"/>
            <a:ext cx="1863857" cy="9833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rot="16200000">
            <a:off x="215511" y="3657901"/>
            <a:ext cx="1415772" cy="400110"/>
          </a:xfrm>
          <a:prstGeom prst="rect">
            <a:avLst/>
          </a:prstGeom>
          <a:noFill/>
        </p:spPr>
        <p:txBody>
          <a:bodyPr wrap="none" rtlCol="0">
            <a:spAutoFit/>
          </a:bodyPr>
          <a:lstStyle/>
          <a:p>
            <a:r>
              <a:rPr lang="en-US" sz="2000" dirty="0" smtClean="0"/>
              <a:t>Dispatcher</a:t>
            </a:r>
            <a:endParaRPr lang="en-US" sz="2000" dirty="0"/>
          </a:p>
        </p:txBody>
      </p:sp>
      <p:sp>
        <p:nvSpPr>
          <p:cNvPr id="45" name="TextBox 44"/>
          <p:cNvSpPr txBox="1"/>
          <p:nvPr/>
        </p:nvSpPr>
        <p:spPr>
          <a:xfrm>
            <a:off x="1384587" y="1886050"/>
            <a:ext cx="1249561" cy="369332"/>
          </a:xfrm>
          <a:prstGeom prst="rect">
            <a:avLst/>
          </a:prstGeom>
          <a:noFill/>
        </p:spPr>
        <p:txBody>
          <a:bodyPr wrap="none" rtlCol="0">
            <a:spAutoFit/>
          </a:bodyPr>
          <a:lstStyle/>
          <a:p>
            <a:r>
              <a:rPr lang="en-US" dirty="0" smtClean="0"/>
              <a:t>User Input</a:t>
            </a:r>
            <a:endParaRPr lang="en-US" dirty="0"/>
          </a:p>
        </p:txBody>
      </p:sp>
      <p:sp>
        <p:nvSpPr>
          <p:cNvPr id="46" name="TextBox 45"/>
          <p:cNvSpPr txBox="1"/>
          <p:nvPr/>
        </p:nvSpPr>
        <p:spPr>
          <a:xfrm>
            <a:off x="3737773" y="5003202"/>
            <a:ext cx="993143" cy="369332"/>
          </a:xfrm>
          <a:prstGeom prst="rect">
            <a:avLst/>
          </a:prstGeom>
          <a:noFill/>
        </p:spPr>
        <p:txBody>
          <a:bodyPr wrap="none" rtlCol="0">
            <a:spAutoFit/>
          </a:bodyPr>
          <a:lstStyle/>
          <a:p>
            <a:r>
              <a:rPr lang="en-US" dirty="0" smtClean="0"/>
              <a:t>Queues</a:t>
            </a:r>
            <a:endParaRPr lang="en-US" dirty="0"/>
          </a:p>
        </p:txBody>
      </p:sp>
    </p:spTree>
    <p:extLst>
      <p:ext uri="{BB962C8B-B14F-4D97-AF65-F5344CB8AC3E}">
        <p14:creationId xmlns:p14="http://schemas.microsoft.com/office/powerpoint/2010/main" val="1269960597"/>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#4: Robot Escape</a:t>
            </a:r>
            <a:endParaRPr lang="en-US" dirty="0"/>
          </a:p>
        </p:txBody>
      </p:sp>
      <p:sp>
        <p:nvSpPr>
          <p:cNvPr id="4" name="Rectangle 3"/>
          <p:cNvSpPr/>
          <p:nvPr/>
        </p:nvSpPr>
        <p:spPr>
          <a:xfrm>
            <a:off x="1308100" y="1689100"/>
            <a:ext cx="6477000" cy="429260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1473200" y="1841500"/>
            <a:ext cx="6146800" cy="3962400"/>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rot="18717391">
            <a:off x="5439499" y="3674642"/>
            <a:ext cx="431800" cy="444500"/>
          </a:xfrm>
          <a:prstGeom prst="rect">
            <a:avLst/>
          </a:prstGeom>
          <a:solidFill>
            <a:srgbClr val="3366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7772400" y="1908916"/>
            <a:ext cx="1390675" cy="646331"/>
          </a:xfrm>
          <a:prstGeom prst="rect">
            <a:avLst/>
          </a:prstGeom>
          <a:noFill/>
        </p:spPr>
        <p:txBody>
          <a:bodyPr wrap="none" rtlCol="0">
            <a:spAutoFit/>
          </a:bodyPr>
          <a:lstStyle/>
          <a:p>
            <a:pPr algn="ctr"/>
            <a:r>
              <a:rPr lang="en-US" dirty="0" smtClean="0"/>
              <a:t>Boundary</a:t>
            </a:r>
          </a:p>
          <a:p>
            <a:pPr algn="ctr"/>
            <a:r>
              <a:rPr lang="en-US" dirty="0" smtClean="0"/>
              <a:t>(black tape)</a:t>
            </a:r>
            <a:endParaRPr lang="en-US" dirty="0"/>
          </a:p>
        </p:txBody>
      </p:sp>
      <p:sp>
        <p:nvSpPr>
          <p:cNvPr id="8" name="TextBox 7"/>
          <p:cNvSpPr txBox="1"/>
          <p:nvPr/>
        </p:nvSpPr>
        <p:spPr>
          <a:xfrm>
            <a:off x="5653661" y="4061072"/>
            <a:ext cx="800632" cy="369332"/>
          </a:xfrm>
          <a:prstGeom prst="rect">
            <a:avLst/>
          </a:prstGeom>
          <a:noFill/>
        </p:spPr>
        <p:txBody>
          <a:bodyPr wrap="none" rtlCol="0">
            <a:spAutoFit/>
          </a:bodyPr>
          <a:lstStyle/>
          <a:p>
            <a:pPr algn="ctr"/>
            <a:r>
              <a:rPr lang="en-US" dirty="0" smtClean="0"/>
              <a:t>Robot</a:t>
            </a:r>
            <a:endParaRPr lang="en-US" dirty="0"/>
          </a:p>
        </p:txBody>
      </p:sp>
      <p:sp>
        <p:nvSpPr>
          <p:cNvPr id="9" name="Rectangle 8"/>
          <p:cNvSpPr/>
          <p:nvPr/>
        </p:nvSpPr>
        <p:spPr>
          <a:xfrm>
            <a:off x="2413000" y="2882900"/>
            <a:ext cx="901700" cy="914400"/>
          </a:xfrm>
          <a:prstGeom prst="rect">
            <a:avLst/>
          </a:prstGeom>
          <a:noFill/>
          <a:ln>
            <a:solidFill>
              <a:schemeClr val="tx1">
                <a:lumMod val="90000"/>
                <a:lumOff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rot="20140856">
            <a:off x="4622800" y="2755900"/>
            <a:ext cx="1030861" cy="457200"/>
          </a:xfrm>
          <a:prstGeom prst="rect">
            <a:avLst/>
          </a:prstGeom>
          <a:noFill/>
          <a:ln>
            <a:solidFill>
              <a:schemeClr val="tx1">
                <a:lumMod val="90000"/>
                <a:lumOff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2644962" y="2232082"/>
            <a:ext cx="2647855" cy="369332"/>
          </a:xfrm>
          <a:prstGeom prst="rect">
            <a:avLst/>
          </a:prstGeom>
          <a:noFill/>
        </p:spPr>
        <p:txBody>
          <a:bodyPr wrap="none" rtlCol="0">
            <a:spAutoFit/>
          </a:bodyPr>
          <a:lstStyle/>
          <a:p>
            <a:pPr algn="ctr"/>
            <a:r>
              <a:rPr lang="en-US" dirty="0" smtClean="0"/>
              <a:t>Obstacles (white boxes)</a:t>
            </a:r>
            <a:endParaRPr lang="en-US" dirty="0"/>
          </a:p>
        </p:txBody>
      </p:sp>
      <p:sp>
        <p:nvSpPr>
          <p:cNvPr id="12" name="Rectangle 11"/>
          <p:cNvSpPr/>
          <p:nvPr/>
        </p:nvSpPr>
        <p:spPr>
          <a:xfrm>
            <a:off x="3822700" y="4443536"/>
            <a:ext cx="711200" cy="637928"/>
          </a:xfrm>
          <a:prstGeom prst="rect">
            <a:avLst/>
          </a:prstGeom>
          <a:noFill/>
          <a:ln>
            <a:solidFill>
              <a:schemeClr val="tx1">
                <a:lumMod val="90000"/>
                <a:lumOff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H="1">
            <a:off x="3505200" y="2601414"/>
            <a:ext cx="317500" cy="2814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3987800" y="2601414"/>
            <a:ext cx="0" cy="160603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4191000" y="2601414"/>
            <a:ext cx="342900" cy="2814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3587749"/>
            <a:ext cx="762198" cy="369332"/>
          </a:xfrm>
          <a:prstGeom prst="rect">
            <a:avLst/>
          </a:prstGeom>
          <a:noFill/>
        </p:spPr>
        <p:txBody>
          <a:bodyPr wrap="none" rtlCol="0">
            <a:spAutoFit/>
          </a:bodyPr>
          <a:lstStyle/>
          <a:p>
            <a:r>
              <a:rPr lang="en-US" dirty="0" smtClean="0"/>
              <a:t>2 feet</a:t>
            </a:r>
            <a:endParaRPr lang="en-US" dirty="0"/>
          </a:p>
        </p:txBody>
      </p:sp>
      <p:sp>
        <p:nvSpPr>
          <p:cNvPr id="20" name="TextBox 19"/>
          <p:cNvSpPr txBox="1"/>
          <p:nvPr/>
        </p:nvSpPr>
        <p:spPr>
          <a:xfrm>
            <a:off x="3822700" y="6000749"/>
            <a:ext cx="762198" cy="369332"/>
          </a:xfrm>
          <a:prstGeom prst="rect">
            <a:avLst/>
          </a:prstGeom>
          <a:noFill/>
        </p:spPr>
        <p:txBody>
          <a:bodyPr wrap="none" rtlCol="0">
            <a:spAutoFit/>
          </a:bodyPr>
          <a:lstStyle/>
          <a:p>
            <a:r>
              <a:rPr lang="en-US" dirty="0" smtClean="0"/>
              <a:t>3 feet</a:t>
            </a:r>
            <a:endParaRPr lang="en-US" dirty="0"/>
          </a:p>
        </p:txBody>
      </p:sp>
    </p:spTree>
    <p:extLst>
      <p:ext uri="{BB962C8B-B14F-4D97-AF65-F5344CB8AC3E}">
        <p14:creationId xmlns:p14="http://schemas.microsoft.com/office/powerpoint/2010/main" val="1651681589"/>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Review: Dispatcher</a:t>
            </a:r>
            <a:endParaRPr lang="en-US" dirty="0"/>
          </a:p>
        </p:txBody>
      </p:sp>
      <p:pic>
        <p:nvPicPr>
          <p:cNvPr id="6" name="Picture 5" descr="Screen Shot 2016-06-24 at 8.26.55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0600" y="1447800"/>
            <a:ext cx="5373274" cy="5207000"/>
          </a:xfrm>
          <a:prstGeom prst="rect">
            <a:avLst/>
          </a:prstGeom>
        </p:spPr>
      </p:pic>
    </p:spTree>
    <p:extLst>
      <p:ext uri="{BB962C8B-B14F-4D97-AF65-F5344CB8AC3E}">
        <p14:creationId xmlns:p14="http://schemas.microsoft.com/office/powerpoint/2010/main" val="2164790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Review: Handler1 (Draw)</a:t>
            </a:r>
            <a:endParaRPr lang="en-US" dirty="0"/>
          </a:p>
        </p:txBody>
      </p:sp>
      <p:pic>
        <p:nvPicPr>
          <p:cNvPr id="6" name="Picture 5" descr="Screen Shot 2016-06-24 at 8.29.38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4050" y="1612900"/>
            <a:ext cx="7023100" cy="3911600"/>
          </a:xfrm>
          <a:prstGeom prst="rect">
            <a:avLst/>
          </a:prstGeom>
        </p:spPr>
      </p:pic>
    </p:spTree>
    <p:extLst>
      <p:ext uri="{BB962C8B-B14F-4D97-AF65-F5344CB8AC3E}">
        <p14:creationId xmlns:p14="http://schemas.microsoft.com/office/powerpoint/2010/main" val="417281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Review: Handler2</a:t>
            </a:r>
            <a:endParaRPr lang="en-US" dirty="0"/>
          </a:p>
        </p:txBody>
      </p:sp>
      <p:pic>
        <p:nvPicPr>
          <p:cNvPr id="7" name="Picture 6" descr="Screen Shot 2016-06-24 at 8.27.20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9808" y="1524000"/>
            <a:ext cx="4853281" cy="5105400"/>
          </a:xfrm>
          <a:prstGeom prst="rect">
            <a:avLst/>
          </a:prstGeom>
        </p:spPr>
      </p:pic>
    </p:spTree>
    <p:extLst>
      <p:ext uri="{BB962C8B-B14F-4D97-AF65-F5344CB8AC3E}">
        <p14:creationId xmlns:p14="http://schemas.microsoft.com/office/powerpoint/2010/main" val="2429090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Review: Main</a:t>
            </a:r>
            <a:endParaRPr lang="en-US" dirty="0"/>
          </a:p>
        </p:txBody>
      </p:sp>
      <p:pic>
        <p:nvPicPr>
          <p:cNvPr id="4" name="Picture 3" descr="Screen Shot 2016-06-24 at 8.27.41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200" y="1657350"/>
            <a:ext cx="8432800" cy="3365500"/>
          </a:xfrm>
          <a:prstGeom prst="rect">
            <a:avLst/>
          </a:prstGeom>
        </p:spPr>
      </p:pic>
    </p:spTree>
    <p:extLst>
      <p:ext uri="{BB962C8B-B14F-4D97-AF65-F5344CB8AC3E}">
        <p14:creationId xmlns:p14="http://schemas.microsoft.com/office/powerpoint/2010/main" val="3435718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49600"/>
            <a:ext cx="8229600" cy="990600"/>
          </a:xfrm>
        </p:spPr>
        <p:txBody>
          <a:bodyPr/>
          <a:lstStyle/>
          <a:p>
            <a:pPr algn="ctr"/>
            <a:r>
              <a:rPr lang="en-US" dirty="0" smtClean="0"/>
              <a:t>Finite State Machine (FSM)</a:t>
            </a:r>
            <a:endParaRPr lang="en-US" dirty="0"/>
          </a:p>
        </p:txBody>
      </p:sp>
    </p:spTree>
    <p:extLst>
      <p:ext uri="{BB962C8B-B14F-4D97-AF65-F5344CB8AC3E}">
        <p14:creationId xmlns:p14="http://schemas.microsoft.com/office/powerpoint/2010/main" val="3600723338"/>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FSM Examples in Daily Live</a:t>
            </a:r>
            <a:endParaRPr lang="en-US" dirty="0"/>
          </a:p>
        </p:txBody>
      </p:sp>
      <p:sp>
        <p:nvSpPr>
          <p:cNvPr id="3" name="Content Placeholder 2"/>
          <p:cNvSpPr>
            <a:spLocks noGrp="1"/>
          </p:cNvSpPr>
          <p:nvPr>
            <p:ph idx="1"/>
          </p:nvPr>
        </p:nvSpPr>
        <p:spPr/>
        <p:txBody>
          <a:bodyPr/>
          <a:lstStyle/>
          <a:p>
            <a:r>
              <a:rPr lang="en-US" dirty="0" smtClean="0"/>
              <a:t>Vending Machines</a:t>
            </a:r>
          </a:p>
          <a:p>
            <a:r>
              <a:rPr lang="en-US" dirty="0" smtClean="0"/>
              <a:t>Traffic Lights</a:t>
            </a:r>
          </a:p>
          <a:p>
            <a:r>
              <a:rPr lang="en-US" dirty="0" smtClean="0"/>
              <a:t>Elevators</a:t>
            </a:r>
            <a:endParaRPr lang="en-US" dirty="0"/>
          </a:p>
          <a:p>
            <a:r>
              <a:rPr lang="en-US" dirty="0" smtClean="0"/>
              <a:t>Alarm Clock</a:t>
            </a:r>
          </a:p>
          <a:p>
            <a:r>
              <a:rPr lang="en-US" dirty="0" smtClean="0"/>
              <a:t>Microwave</a:t>
            </a:r>
          </a:p>
          <a:p>
            <a:r>
              <a:rPr lang="en-US" dirty="0" smtClean="0"/>
              <a:t>Cash Registers</a:t>
            </a:r>
          </a:p>
          <a:p>
            <a:endParaRPr lang="en-US" dirty="0"/>
          </a:p>
          <a:p>
            <a:pPr marL="274320" lvl="1" indent="0">
              <a:buNone/>
            </a:pPr>
            <a:r>
              <a:rPr lang="en-US" dirty="0"/>
              <a:t>Each of these devices can be thought of as a </a:t>
            </a:r>
            <a:r>
              <a:rPr lang="en-US" i="1" dirty="0"/>
              <a:t>reactive system </a:t>
            </a:r>
            <a:r>
              <a:rPr lang="en-US" dirty="0"/>
              <a:t>- that is because each of them work by </a:t>
            </a:r>
            <a:r>
              <a:rPr lang="en-US" i="1" dirty="0"/>
              <a:t>reacting </a:t>
            </a:r>
            <a:r>
              <a:rPr lang="en-US" dirty="0"/>
              <a:t>to signals or inputs from the external world. </a:t>
            </a:r>
          </a:p>
          <a:p>
            <a:endParaRPr lang="en-US" dirty="0" smtClean="0"/>
          </a:p>
        </p:txBody>
      </p:sp>
    </p:spTree>
    <p:extLst>
      <p:ext uri="{BB962C8B-B14F-4D97-AF65-F5344CB8AC3E}">
        <p14:creationId xmlns:p14="http://schemas.microsoft.com/office/powerpoint/2010/main" val="4275085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Finite State Machine</a:t>
            </a:r>
            <a:endParaRPr lang="en-US" dirty="0"/>
          </a:p>
        </p:txBody>
      </p:sp>
      <p:sp>
        <p:nvSpPr>
          <p:cNvPr id="3" name="Content Placeholder 2"/>
          <p:cNvSpPr>
            <a:spLocks noGrp="1"/>
          </p:cNvSpPr>
          <p:nvPr>
            <p:ph idx="1"/>
          </p:nvPr>
        </p:nvSpPr>
        <p:spPr/>
        <p:txBody>
          <a:bodyPr/>
          <a:lstStyle/>
          <a:p>
            <a:r>
              <a:rPr lang="en-US" dirty="0" smtClean="0"/>
              <a:t>A reactive system whose response </a:t>
            </a:r>
            <a:r>
              <a:rPr lang="en-US" dirty="0"/>
              <a:t>to a particular stimulus (a </a:t>
            </a:r>
            <a:r>
              <a:rPr lang="en-US" i="1" dirty="0"/>
              <a:t>signal</a:t>
            </a:r>
            <a:r>
              <a:rPr lang="en-US" dirty="0"/>
              <a:t>, or a piece of </a:t>
            </a:r>
            <a:r>
              <a:rPr lang="en-US" i="1" dirty="0"/>
              <a:t>input</a:t>
            </a:r>
            <a:r>
              <a:rPr lang="en-US" dirty="0"/>
              <a:t>) is not the same on every </a:t>
            </a:r>
            <a:r>
              <a:rPr lang="en-US" dirty="0" smtClean="0"/>
              <a:t>occasion, depending on its current “state”. </a:t>
            </a:r>
          </a:p>
          <a:p>
            <a:endParaRPr lang="en-US" dirty="0"/>
          </a:p>
          <a:p>
            <a:r>
              <a:rPr lang="en-US" dirty="0" smtClean="0">
                <a:solidFill>
                  <a:srgbClr val="7F7F7F"/>
                </a:solidFill>
              </a:rPr>
              <a:t>For </a:t>
            </a:r>
            <a:r>
              <a:rPr lang="en-US" dirty="0">
                <a:solidFill>
                  <a:srgbClr val="7F7F7F"/>
                </a:solidFill>
              </a:rPr>
              <a:t>example, in the case of a parking ticket machine, it will not print a ticket when you press the button unless you have already inserted some money. Thus the response to the print button depends on the previous </a:t>
            </a:r>
            <a:r>
              <a:rPr lang="en-US" i="1" dirty="0">
                <a:solidFill>
                  <a:srgbClr val="7F7F7F"/>
                </a:solidFill>
              </a:rPr>
              <a:t>history </a:t>
            </a:r>
            <a:r>
              <a:rPr lang="en-US" dirty="0">
                <a:solidFill>
                  <a:srgbClr val="7F7F7F"/>
                </a:solidFill>
              </a:rPr>
              <a:t>of the use of the system. </a:t>
            </a:r>
          </a:p>
          <a:p>
            <a:endParaRPr lang="en-US" dirty="0"/>
          </a:p>
        </p:txBody>
      </p:sp>
    </p:spTree>
    <p:extLst>
      <p:ext uri="{BB962C8B-B14F-4D97-AF65-F5344CB8AC3E}">
        <p14:creationId xmlns:p14="http://schemas.microsoft.com/office/powerpoint/2010/main" val="167419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Precisely (Formally)</a:t>
            </a:r>
            <a:endParaRPr lang="en-US" dirty="0"/>
          </a:p>
        </p:txBody>
      </p:sp>
      <p:sp>
        <p:nvSpPr>
          <p:cNvPr id="3" name="Content Placeholder 2"/>
          <p:cNvSpPr>
            <a:spLocks noGrp="1"/>
          </p:cNvSpPr>
          <p:nvPr>
            <p:ph idx="1"/>
          </p:nvPr>
        </p:nvSpPr>
        <p:spPr/>
        <p:txBody>
          <a:bodyPr/>
          <a:lstStyle/>
          <a:p>
            <a:r>
              <a:rPr lang="en-US" dirty="0" smtClean="0"/>
              <a:t>A Finite State Machine is defined by </a:t>
            </a:r>
            <a:r>
              <a:rPr lang="el-GR" dirty="0" smtClean="0"/>
              <a:t>(</a:t>
            </a:r>
            <a:r>
              <a:rPr lang="el-GR" dirty="0"/>
              <a:t>Σ,S,s</a:t>
            </a:r>
            <a:r>
              <a:rPr lang="el-GR" baseline="-25000" dirty="0"/>
              <a:t>0</a:t>
            </a:r>
            <a:r>
              <a:rPr lang="el-GR" dirty="0"/>
              <a:t>,δ,F), </a:t>
            </a:r>
            <a:r>
              <a:rPr lang="en-US" dirty="0" smtClean="0"/>
              <a:t>where</a:t>
            </a:r>
            <a:r>
              <a:rPr lang="en-US" dirty="0"/>
              <a:t>: </a:t>
            </a:r>
          </a:p>
          <a:p>
            <a:pPr lvl="1"/>
            <a:r>
              <a:rPr lang="en-US" dirty="0" err="1"/>
              <a:t>Σ</a:t>
            </a:r>
            <a:r>
              <a:rPr lang="en-US" dirty="0"/>
              <a:t> is the input alphabet (a finite, non-empty set of symbols).</a:t>
            </a:r>
          </a:p>
          <a:p>
            <a:pPr lvl="1"/>
            <a:r>
              <a:rPr lang="en-US" dirty="0"/>
              <a:t>S is a finite, non-empty set of states.</a:t>
            </a:r>
          </a:p>
          <a:p>
            <a:pPr lvl="1"/>
            <a:r>
              <a:rPr lang="en-US" dirty="0"/>
              <a:t>s</a:t>
            </a:r>
            <a:r>
              <a:rPr lang="en-US" baseline="-25000" dirty="0"/>
              <a:t>0</a:t>
            </a:r>
            <a:r>
              <a:rPr lang="en-US" dirty="0"/>
              <a:t> is an initial state, an element of S.</a:t>
            </a:r>
          </a:p>
          <a:p>
            <a:pPr lvl="1"/>
            <a:r>
              <a:rPr lang="en-US" dirty="0" err="1"/>
              <a:t>δ</a:t>
            </a:r>
            <a:r>
              <a:rPr lang="en-US" dirty="0"/>
              <a:t> is the state-transition function: </a:t>
            </a:r>
            <a:r>
              <a:rPr lang="en-US" dirty="0" err="1"/>
              <a:t>δ</a:t>
            </a:r>
            <a:r>
              <a:rPr lang="en-US" dirty="0"/>
              <a:t> : S x </a:t>
            </a:r>
            <a:r>
              <a:rPr lang="en-US" dirty="0" err="1"/>
              <a:t>Σ</a:t>
            </a:r>
            <a:r>
              <a:rPr lang="en-US" dirty="0"/>
              <a:t> → S </a:t>
            </a:r>
          </a:p>
          <a:p>
            <a:pPr lvl="1"/>
            <a:r>
              <a:rPr lang="en-US" dirty="0" smtClean="0"/>
              <a:t>F </a:t>
            </a:r>
            <a:r>
              <a:rPr lang="en-US" dirty="0"/>
              <a:t>is the set of final states, a (possibly empty) subset of S</a:t>
            </a:r>
            <a:r>
              <a:rPr lang="en-US" dirty="0" smtClean="0"/>
              <a:t>.</a:t>
            </a:r>
          </a:p>
          <a:p>
            <a:pPr lvl="1"/>
            <a:r>
              <a:rPr lang="en-US" dirty="0" smtClean="0"/>
              <a:t>O is the set (possibly empty) of outputs </a:t>
            </a:r>
            <a:endParaRPr lang="en-US" dirty="0"/>
          </a:p>
        </p:txBody>
      </p:sp>
    </p:spTree>
    <p:extLst>
      <p:ext uri="{BB962C8B-B14F-4D97-AF65-F5344CB8AC3E}">
        <p14:creationId xmlns:p14="http://schemas.microsoft.com/office/powerpoint/2010/main" val="1010921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0"/>
            <a:ext cx="8229600" cy="990600"/>
          </a:xfrm>
        </p:spPr>
        <p:txBody>
          <a:bodyPr/>
          <a:lstStyle/>
          <a:p>
            <a:r>
              <a:rPr lang="en-US" dirty="0" smtClean="0"/>
              <a:t>A (Simplified) Ticket Machine</a:t>
            </a:r>
            <a:endParaRPr lang="en-US" dirty="0"/>
          </a:p>
        </p:txBody>
      </p:sp>
      <p:sp>
        <p:nvSpPr>
          <p:cNvPr id="3" name="Content Placeholder 2"/>
          <p:cNvSpPr>
            <a:spLocks noGrp="1"/>
          </p:cNvSpPr>
          <p:nvPr>
            <p:ph idx="1"/>
          </p:nvPr>
        </p:nvSpPr>
        <p:spPr>
          <a:xfrm>
            <a:off x="457200" y="1524000"/>
            <a:ext cx="5632072" cy="4876800"/>
          </a:xfrm>
        </p:spPr>
        <p:txBody>
          <a:bodyPr>
            <a:normAutofit/>
          </a:bodyPr>
          <a:lstStyle/>
          <a:p>
            <a:pPr lvl="1"/>
            <a:r>
              <a:rPr lang="en-US" sz="1800" dirty="0" err="1"/>
              <a:t>Σ</a:t>
            </a:r>
            <a:r>
              <a:rPr lang="en-US" sz="1800" dirty="0"/>
              <a:t> </a:t>
            </a:r>
            <a:r>
              <a:rPr lang="en-US" sz="1800" dirty="0" smtClean="0"/>
              <a:t>(m, t, r) : inserting money, requesting ticket, requesting refund</a:t>
            </a:r>
          </a:p>
          <a:p>
            <a:pPr lvl="1"/>
            <a:r>
              <a:rPr lang="en-US" sz="1800" dirty="0" smtClean="0"/>
              <a:t>S (1, 2) : unpaid, paid</a:t>
            </a:r>
          </a:p>
          <a:p>
            <a:pPr lvl="1"/>
            <a:r>
              <a:rPr lang="en-US" sz="1800" dirty="0" smtClean="0"/>
              <a:t>s</a:t>
            </a:r>
            <a:r>
              <a:rPr lang="en-US" sz="1800" baseline="-25000" dirty="0" smtClean="0"/>
              <a:t>0</a:t>
            </a:r>
            <a:r>
              <a:rPr lang="en-US" sz="1800" dirty="0" smtClean="0"/>
              <a:t> (1) : an </a:t>
            </a:r>
            <a:r>
              <a:rPr lang="en-US" sz="1800" dirty="0"/>
              <a:t>initial state, an element of S.</a:t>
            </a:r>
          </a:p>
          <a:p>
            <a:pPr lvl="1"/>
            <a:r>
              <a:rPr lang="en-US" sz="1800" dirty="0" err="1" smtClean="0"/>
              <a:t>δ</a:t>
            </a:r>
            <a:r>
              <a:rPr lang="en-US" sz="1800" dirty="0" smtClean="0"/>
              <a:t> (shown below) : transition function: </a:t>
            </a:r>
            <a:r>
              <a:rPr lang="en-US" sz="1800" dirty="0" err="1" smtClean="0"/>
              <a:t>δ</a:t>
            </a:r>
            <a:r>
              <a:rPr lang="en-US" sz="1800" dirty="0" smtClean="0"/>
              <a:t> : S x </a:t>
            </a:r>
            <a:r>
              <a:rPr lang="en-US" sz="1800" dirty="0" err="1" smtClean="0"/>
              <a:t>Σ</a:t>
            </a:r>
            <a:r>
              <a:rPr lang="en-US" sz="1800" dirty="0" smtClean="0"/>
              <a:t> → S </a:t>
            </a:r>
          </a:p>
          <a:p>
            <a:pPr lvl="1"/>
            <a:r>
              <a:rPr lang="en-US" sz="1800" dirty="0" smtClean="0"/>
              <a:t>F : empty</a:t>
            </a:r>
          </a:p>
          <a:p>
            <a:pPr lvl="1"/>
            <a:r>
              <a:rPr lang="en-US" sz="1800" dirty="0" smtClean="0"/>
              <a:t>O (p/d) : print ticket, deliver refund</a:t>
            </a:r>
          </a:p>
          <a:p>
            <a:pPr lvl="1"/>
            <a:endParaRPr lang="en-US" sz="1800" dirty="0"/>
          </a:p>
        </p:txBody>
      </p:sp>
      <p:pic>
        <p:nvPicPr>
          <p:cNvPr id="5" name="Picture 4" descr="Screen Shot 2015-10-12 at 10.08.11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60722" y="1765300"/>
            <a:ext cx="2426078" cy="4368800"/>
          </a:xfrm>
          <a:prstGeom prst="rect">
            <a:avLst/>
          </a:prstGeom>
        </p:spPr>
      </p:pic>
      <p:pic>
        <p:nvPicPr>
          <p:cNvPr id="6" name="Picture 5" descr="Screen Shot 2015-10-12 at 10.03.43 AM.pn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57200" y="4049994"/>
            <a:ext cx="5574922" cy="2300006"/>
          </a:xfrm>
          <a:prstGeom prst="rect">
            <a:avLst/>
          </a:prstGeom>
        </p:spPr>
      </p:pic>
      <p:pic>
        <p:nvPicPr>
          <p:cNvPr id="7" name="Picture 6" descr="Screen Shot 2015-10-12 at 12.25.09 PM.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089272" y="1524000"/>
            <a:ext cx="2819400" cy="4826000"/>
          </a:xfrm>
          <a:prstGeom prst="rect">
            <a:avLst/>
          </a:prstGeom>
        </p:spPr>
      </p:pic>
    </p:spTree>
    <p:extLst>
      <p:ext uri="{BB962C8B-B14F-4D97-AF65-F5344CB8AC3E}">
        <p14:creationId xmlns:p14="http://schemas.microsoft.com/office/powerpoint/2010/main" val="2234984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Acceptors and Transducers</a:t>
            </a:r>
            <a:endParaRPr lang="en-US" dirty="0"/>
          </a:p>
        </p:txBody>
      </p:sp>
      <p:sp>
        <p:nvSpPr>
          <p:cNvPr id="3" name="Content Placeholder 2"/>
          <p:cNvSpPr>
            <a:spLocks noGrp="1"/>
          </p:cNvSpPr>
          <p:nvPr>
            <p:ph idx="1"/>
          </p:nvPr>
        </p:nvSpPr>
        <p:spPr>
          <a:xfrm>
            <a:off x="457200" y="1600200"/>
            <a:ext cx="8229600" cy="4737100"/>
          </a:xfrm>
        </p:spPr>
        <p:txBody>
          <a:bodyPr/>
          <a:lstStyle/>
          <a:p>
            <a:r>
              <a:rPr lang="en-US" dirty="0" smtClean="0"/>
              <a:t>Acceptors: no output, have final states</a:t>
            </a:r>
          </a:p>
          <a:p>
            <a:r>
              <a:rPr lang="en-US" dirty="0" smtClean="0"/>
              <a:t>Transducers: non-empty set of output</a:t>
            </a:r>
            <a:endParaRPr lang="en-US" dirty="0"/>
          </a:p>
        </p:txBody>
      </p:sp>
      <p:pic>
        <p:nvPicPr>
          <p:cNvPr id="4" name="Picture 3" descr="Screen Shot 2015-10-13 at 9.28.42 AM.png"/>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87906" y="3200401"/>
            <a:ext cx="3649603" cy="2222500"/>
          </a:xfrm>
          <a:prstGeom prst="rect">
            <a:avLst/>
          </a:prstGeom>
        </p:spPr>
      </p:pic>
      <p:pic>
        <p:nvPicPr>
          <p:cNvPr id="5" name="Picture 4" descr="Screen Shot 2015-10-12 at 10.03.43 AM.pn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247209" y="3780691"/>
            <a:ext cx="3980509" cy="1642210"/>
          </a:xfrm>
          <a:prstGeom prst="rect">
            <a:avLst/>
          </a:prstGeom>
        </p:spPr>
      </p:pic>
      <p:sp>
        <p:nvSpPr>
          <p:cNvPr id="6" name="TextBox 5"/>
          <p:cNvSpPr txBox="1"/>
          <p:nvPr/>
        </p:nvSpPr>
        <p:spPr>
          <a:xfrm>
            <a:off x="1498600" y="5467866"/>
            <a:ext cx="1108421" cy="369332"/>
          </a:xfrm>
          <a:prstGeom prst="rect">
            <a:avLst/>
          </a:prstGeom>
          <a:noFill/>
        </p:spPr>
        <p:txBody>
          <a:bodyPr wrap="none" rtlCol="0">
            <a:spAutoFit/>
          </a:bodyPr>
          <a:lstStyle/>
          <a:p>
            <a:r>
              <a:rPr lang="en-US" dirty="0" smtClean="0"/>
              <a:t>Acceptor</a:t>
            </a:r>
            <a:endParaRPr lang="en-US" dirty="0"/>
          </a:p>
        </p:txBody>
      </p:sp>
      <p:sp>
        <p:nvSpPr>
          <p:cNvPr id="8" name="Rectangle 7"/>
          <p:cNvSpPr/>
          <p:nvPr/>
        </p:nvSpPr>
        <p:spPr>
          <a:xfrm>
            <a:off x="5685010" y="5467866"/>
            <a:ext cx="1343562" cy="369332"/>
          </a:xfrm>
          <a:prstGeom prst="rect">
            <a:avLst/>
          </a:prstGeom>
        </p:spPr>
        <p:txBody>
          <a:bodyPr wrap="none">
            <a:spAutoFit/>
          </a:bodyPr>
          <a:lstStyle/>
          <a:p>
            <a:r>
              <a:rPr lang="en-US" dirty="0" smtClean="0"/>
              <a:t>Transducer</a:t>
            </a:r>
            <a:endParaRPr lang="en-US" dirty="0"/>
          </a:p>
        </p:txBody>
      </p:sp>
    </p:spTree>
    <p:extLst>
      <p:ext uri="{BB962C8B-B14F-4D97-AF65-F5344CB8AC3E}">
        <p14:creationId xmlns:p14="http://schemas.microsoft.com/office/powerpoint/2010/main" val="1816907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Deterministic and Non-Deterministic</a:t>
            </a:r>
            <a:endParaRPr lang="en-US" dirty="0"/>
          </a:p>
        </p:txBody>
      </p:sp>
      <p:sp>
        <p:nvSpPr>
          <p:cNvPr id="3" name="Content Placeholder 2"/>
          <p:cNvSpPr>
            <a:spLocks noGrp="1"/>
          </p:cNvSpPr>
          <p:nvPr>
            <p:ph idx="1"/>
          </p:nvPr>
        </p:nvSpPr>
        <p:spPr/>
        <p:txBody>
          <a:bodyPr/>
          <a:lstStyle/>
          <a:p>
            <a:r>
              <a:rPr lang="en-US" dirty="0" smtClean="0"/>
              <a:t>Non-deterministic: Competing “Transitions” Leaving Same State</a:t>
            </a:r>
          </a:p>
          <a:p>
            <a:pPr marL="0" indent="0">
              <a:buNone/>
            </a:pPr>
            <a:endParaRPr lang="en-US" dirty="0"/>
          </a:p>
          <a:p>
            <a:pPr marL="0" indent="0">
              <a:buNone/>
            </a:pPr>
            <a:r>
              <a:rPr lang="en-US" dirty="0" smtClean="0"/>
              <a:t>We only concern ourselves with Deterministic FSM in this class</a:t>
            </a:r>
            <a:endParaRPr lang="en-US" dirty="0"/>
          </a:p>
        </p:txBody>
      </p:sp>
    </p:spTree>
    <p:extLst>
      <p:ext uri="{BB962C8B-B14F-4D97-AF65-F5344CB8AC3E}">
        <p14:creationId xmlns:p14="http://schemas.microsoft.com/office/powerpoint/2010/main" val="3941323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Implement an FSM</a:t>
            </a:r>
            <a:endParaRPr lang="en-US" dirty="0"/>
          </a:p>
        </p:txBody>
      </p:sp>
      <p:sp>
        <p:nvSpPr>
          <p:cNvPr id="3" name="Content Placeholder 2"/>
          <p:cNvSpPr>
            <a:spLocks noGrp="1"/>
          </p:cNvSpPr>
          <p:nvPr>
            <p:ph idx="1"/>
          </p:nvPr>
        </p:nvSpPr>
        <p:spPr/>
        <p:txBody>
          <a:bodyPr/>
          <a:lstStyle/>
          <a:p>
            <a:r>
              <a:rPr lang="en-US" dirty="0"/>
              <a:t>The Finite State Machine class keeps track of the current state, and the list of valid state </a:t>
            </a:r>
            <a:r>
              <a:rPr lang="en-US" dirty="0" smtClean="0"/>
              <a:t>transitions.</a:t>
            </a:r>
          </a:p>
          <a:p>
            <a:r>
              <a:rPr lang="en-US" dirty="0" smtClean="0"/>
              <a:t>You </a:t>
            </a:r>
            <a:r>
              <a:rPr lang="en-US" dirty="0"/>
              <a:t>define each transition by specifying :</a:t>
            </a:r>
          </a:p>
          <a:p>
            <a:pPr lvl="1"/>
            <a:r>
              <a:rPr lang="en-US" dirty="0" err="1"/>
              <a:t>FromState</a:t>
            </a:r>
            <a:r>
              <a:rPr lang="en-US" dirty="0"/>
              <a:t> - the starting state for this transition</a:t>
            </a:r>
          </a:p>
          <a:p>
            <a:pPr lvl="1"/>
            <a:r>
              <a:rPr lang="en-US" dirty="0" err="1"/>
              <a:t>ToState</a:t>
            </a:r>
            <a:r>
              <a:rPr lang="en-US" dirty="0"/>
              <a:t> - the end state for this transition</a:t>
            </a:r>
          </a:p>
          <a:p>
            <a:pPr lvl="1"/>
            <a:r>
              <a:rPr lang="en-US" dirty="0"/>
              <a:t>condition - a callable which when it returns True means this transition is valid</a:t>
            </a:r>
          </a:p>
          <a:p>
            <a:pPr lvl="1"/>
            <a:r>
              <a:rPr lang="en-US" dirty="0"/>
              <a:t>callback - an optional callable function which is invoked when this transition is executed</a:t>
            </a:r>
            <a:r>
              <a:rPr lang="en-US" dirty="0" smtClean="0"/>
              <a:t>.</a:t>
            </a:r>
          </a:p>
          <a:p>
            <a:r>
              <a:rPr lang="en-US" dirty="0" smtClean="0"/>
              <a:t>Transition is triggered by an “event”</a:t>
            </a:r>
            <a:endParaRPr lang="en-US" dirty="0"/>
          </a:p>
        </p:txBody>
      </p:sp>
    </p:spTree>
    <p:extLst>
      <p:ext uri="{BB962C8B-B14F-4D97-AF65-F5344CB8AC3E}">
        <p14:creationId xmlns:p14="http://schemas.microsoft.com/office/powerpoint/2010/main" val="634619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Dictionaries</a:t>
            </a:r>
            <a:endParaRPr lang="en-US" dirty="0"/>
          </a:p>
        </p:txBody>
      </p:sp>
      <p:sp>
        <p:nvSpPr>
          <p:cNvPr id="3" name="Content Placeholder 2"/>
          <p:cNvSpPr>
            <a:spLocks noGrp="1"/>
          </p:cNvSpPr>
          <p:nvPr>
            <p:ph idx="1"/>
          </p:nvPr>
        </p:nvSpPr>
        <p:spPr/>
        <p:txBody>
          <a:bodyPr/>
          <a:lstStyle/>
          <a:p>
            <a:r>
              <a:rPr lang="en-US" dirty="0" smtClean="0"/>
              <a:t>A Python Data Structure (just like List, Queue,…)</a:t>
            </a:r>
          </a:p>
          <a:p>
            <a:r>
              <a:rPr lang="en-US" dirty="0"/>
              <a:t>Contains a series of key -&gt; value mappings where the "key" is of any type </a:t>
            </a:r>
            <a:r>
              <a:rPr lang="en-US" dirty="0" smtClean="0"/>
              <a:t>(that </a:t>
            </a:r>
            <a:r>
              <a:rPr lang="en-US" dirty="0"/>
              <a:t>is </a:t>
            </a:r>
            <a:r>
              <a:rPr lang="en-US" i="1" dirty="0" err="1" smtClean="0"/>
              <a:t>hashable</a:t>
            </a:r>
            <a:r>
              <a:rPr lang="en-US" i="1" dirty="0" smtClean="0"/>
              <a:t>)</a:t>
            </a:r>
            <a:r>
              <a:rPr lang="en-US" dirty="0" smtClean="0"/>
              <a:t>. </a:t>
            </a:r>
            <a:r>
              <a:rPr lang="en-US" dirty="0"/>
              <a:t>The "value" may be of any type and value types need not be homogeneous</a:t>
            </a:r>
            <a:r>
              <a:rPr lang="en-US" dirty="0" smtClean="0"/>
              <a:t>.</a:t>
            </a:r>
          </a:p>
        </p:txBody>
      </p:sp>
    </p:spTree>
    <p:extLst>
      <p:ext uri="{BB962C8B-B14F-4D97-AF65-F5344CB8AC3E}">
        <p14:creationId xmlns:p14="http://schemas.microsoft.com/office/powerpoint/2010/main" val="1072027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Dictionaries</a:t>
            </a:r>
            <a:endParaRPr lang="en-US" dirty="0"/>
          </a:p>
        </p:txBody>
      </p:sp>
      <p:sp>
        <p:nvSpPr>
          <p:cNvPr id="3" name="Content Placeholder 2"/>
          <p:cNvSpPr>
            <a:spLocks noGrp="1"/>
          </p:cNvSpPr>
          <p:nvPr>
            <p:ph idx="1"/>
          </p:nvPr>
        </p:nvSpPr>
        <p:spPr/>
        <p:txBody>
          <a:bodyPr/>
          <a:lstStyle/>
          <a:p>
            <a:r>
              <a:rPr lang="en-US" dirty="0" smtClean="0"/>
              <a:t>{} indicates an empty dictionary</a:t>
            </a:r>
          </a:p>
          <a:p>
            <a:r>
              <a:rPr lang="en-US" dirty="0" smtClean="0"/>
              <a:t>Like a list of “key: value” pairs</a:t>
            </a:r>
          </a:p>
          <a:p>
            <a:r>
              <a:rPr lang="en-US" dirty="0" err="1" smtClean="0"/>
              <a:t>US_Capitals</a:t>
            </a:r>
            <a:r>
              <a:rPr lang="en-US" dirty="0" smtClean="0"/>
              <a:t> = {‘California’: ‘Sacramento’, ‘New York’: ‘Albany’, …}</a:t>
            </a:r>
          </a:p>
          <a:p>
            <a:r>
              <a:rPr lang="en-US" dirty="0" err="1" smtClean="0"/>
              <a:t>US_Capitals</a:t>
            </a:r>
            <a:r>
              <a:rPr lang="en-US" dirty="0" smtClean="0"/>
              <a:t>[‘California’] returns:</a:t>
            </a:r>
          </a:p>
          <a:p>
            <a:pPr lvl="1"/>
            <a:r>
              <a:rPr lang="en-US" dirty="0" smtClean="0"/>
              <a:t>‘Sacramento’</a:t>
            </a:r>
            <a:endParaRPr lang="en-US" dirty="0"/>
          </a:p>
        </p:txBody>
      </p:sp>
    </p:spTree>
    <p:extLst>
      <p:ext uri="{BB962C8B-B14F-4D97-AF65-F5344CB8AC3E}">
        <p14:creationId xmlns:p14="http://schemas.microsoft.com/office/powerpoint/2010/main" val="883021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Dictionaries: Why?</a:t>
            </a:r>
            <a:endParaRPr lang="en-US" dirty="0"/>
          </a:p>
        </p:txBody>
      </p:sp>
      <p:sp>
        <p:nvSpPr>
          <p:cNvPr id="3" name="Content Placeholder 2"/>
          <p:cNvSpPr>
            <a:spLocks noGrp="1"/>
          </p:cNvSpPr>
          <p:nvPr>
            <p:ph idx="1"/>
          </p:nvPr>
        </p:nvSpPr>
        <p:spPr/>
        <p:txBody>
          <a:bodyPr/>
          <a:lstStyle/>
          <a:p>
            <a:r>
              <a:rPr lang="en-US" dirty="0"/>
              <a:t>The conceptual implementation is that of </a:t>
            </a:r>
            <a:r>
              <a:rPr lang="en-US" dirty="0">
                <a:solidFill>
                  <a:srgbClr val="FF0000"/>
                </a:solidFill>
              </a:rPr>
              <a:t>a hash table</a:t>
            </a:r>
            <a:r>
              <a:rPr lang="en-US" dirty="0"/>
              <a:t>, so checks for existence are quite fast. That means we can determine if a specific key is present in the dictionary without needing to examine every element (which gets slower as the dictionary gets bigger). The Python interpreter can just go to the location key "should be" at (if it's in the dictionary) and see if key is actually there.</a:t>
            </a:r>
            <a:endParaRPr lang="en-US" dirty="0"/>
          </a:p>
        </p:txBody>
      </p:sp>
    </p:spTree>
    <p:extLst>
      <p:ext uri="{BB962C8B-B14F-4D97-AF65-F5344CB8AC3E}">
        <p14:creationId xmlns:p14="http://schemas.microsoft.com/office/powerpoint/2010/main" val="1582918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Dictionary For Transitions</a:t>
            </a:r>
            <a:endParaRPr lang="en-US" dirty="0"/>
          </a:p>
        </p:txBody>
      </p:sp>
      <p:sp>
        <p:nvSpPr>
          <p:cNvPr id="3" name="Content Placeholder 2"/>
          <p:cNvSpPr>
            <a:spLocks noGrp="1"/>
          </p:cNvSpPr>
          <p:nvPr>
            <p:ph idx="1"/>
          </p:nvPr>
        </p:nvSpPr>
        <p:spPr/>
        <p:txBody>
          <a:bodyPr/>
          <a:lstStyle/>
          <a:p>
            <a:r>
              <a:rPr lang="en-US" dirty="0" smtClean="0"/>
              <a:t>Transition is “indexed” by the event that triggers it </a:t>
            </a:r>
          </a:p>
          <a:p>
            <a:pPr lvl="1"/>
            <a:r>
              <a:rPr lang="en-US" dirty="0" smtClean="0"/>
              <a:t>i.e. the key of the transition is the name of the event</a:t>
            </a:r>
          </a:p>
          <a:p>
            <a:r>
              <a:rPr lang="en-US" dirty="0" smtClean="0"/>
              <a:t>Flexibility and Quick Access</a:t>
            </a:r>
          </a:p>
        </p:txBody>
      </p:sp>
    </p:spTree>
    <p:extLst>
      <p:ext uri="{BB962C8B-B14F-4D97-AF65-F5344CB8AC3E}">
        <p14:creationId xmlns:p14="http://schemas.microsoft.com/office/powerpoint/2010/main" val="2031619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Simplest FSM</a:t>
            </a:r>
            <a:endParaRPr lang="en-US" dirty="0"/>
          </a:p>
        </p:txBody>
      </p:sp>
      <p:sp>
        <p:nvSpPr>
          <p:cNvPr id="3" name="Oval 2"/>
          <p:cNvSpPr/>
          <p:nvPr/>
        </p:nvSpPr>
        <p:spPr>
          <a:xfrm>
            <a:off x="2705100" y="2654300"/>
            <a:ext cx="889000" cy="901700"/>
          </a:xfrm>
          <a:prstGeom prst="ellipse">
            <a:avLst/>
          </a:prstGeom>
          <a:solidFill>
            <a:srgbClr val="3366FF"/>
          </a:solidFill>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smtClean="0"/>
              <a:t>A</a:t>
            </a:r>
            <a:endParaRPr lang="en-US" sz="3600" dirty="0"/>
          </a:p>
        </p:txBody>
      </p:sp>
      <p:sp>
        <p:nvSpPr>
          <p:cNvPr id="5" name="Oval 4"/>
          <p:cNvSpPr/>
          <p:nvPr/>
        </p:nvSpPr>
        <p:spPr>
          <a:xfrm>
            <a:off x="5473700" y="2654300"/>
            <a:ext cx="889000" cy="9017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t>B</a:t>
            </a:r>
          </a:p>
        </p:txBody>
      </p:sp>
      <p:cxnSp>
        <p:nvCxnSpPr>
          <p:cNvPr id="7" name="Straight Arrow Connector 6"/>
          <p:cNvCxnSpPr>
            <a:stCxn id="3" idx="7"/>
            <a:endCxn id="5" idx="1"/>
          </p:cNvCxnSpPr>
          <p:nvPr/>
        </p:nvCxnSpPr>
        <p:spPr>
          <a:xfrm>
            <a:off x="3463909" y="2786351"/>
            <a:ext cx="213998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stCxn id="5" idx="3"/>
            <a:endCxn id="3" idx="5"/>
          </p:cNvCxnSpPr>
          <p:nvPr/>
        </p:nvCxnSpPr>
        <p:spPr>
          <a:xfrm flipH="1">
            <a:off x="3463909" y="3423949"/>
            <a:ext cx="213998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839794" y="2387600"/>
            <a:ext cx="1633906" cy="369332"/>
          </a:xfrm>
          <a:prstGeom prst="rect">
            <a:avLst/>
          </a:prstGeom>
          <a:noFill/>
        </p:spPr>
        <p:txBody>
          <a:bodyPr wrap="none" rtlCol="0">
            <a:spAutoFit/>
          </a:bodyPr>
          <a:lstStyle/>
          <a:p>
            <a:r>
              <a:rPr lang="en-US" dirty="0" smtClean="0"/>
              <a:t>Press/click “b”</a:t>
            </a:r>
            <a:endParaRPr lang="en-US" dirty="0"/>
          </a:p>
        </p:txBody>
      </p:sp>
      <p:sp>
        <p:nvSpPr>
          <p:cNvPr id="11" name="TextBox 10"/>
          <p:cNvSpPr txBox="1"/>
          <p:nvPr/>
        </p:nvSpPr>
        <p:spPr>
          <a:xfrm>
            <a:off x="3848100" y="3556000"/>
            <a:ext cx="1633906" cy="369332"/>
          </a:xfrm>
          <a:prstGeom prst="rect">
            <a:avLst/>
          </a:prstGeom>
          <a:noFill/>
        </p:spPr>
        <p:txBody>
          <a:bodyPr wrap="none" rtlCol="0">
            <a:spAutoFit/>
          </a:bodyPr>
          <a:lstStyle/>
          <a:p>
            <a:r>
              <a:rPr lang="en-US" dirty="0" smtClean="0"/>
              <a:t>Press/click “a”</a:t>
            </a:r>
            <a:endParaRPr lang="en-US" dirty="0"/>
          </a:p>
        </p:txBody>
      </p:sp>
      <p:cxnSp>
        <p:nvCxnSpPr>
          <p:cNvPr id="13" name="Straight Arrow Connector 12"/>
          <p:cNvCxnSpPr>
            <a:endCxn id="3" idx="2"/>
          </p:cNvCxnSpPr>
          <p:nvPr/>
        </p:nvCxnSpPr>
        <p:spPr>
          <a:xfrm>
            <a:off x="1803400" y="3105150"/>
            <a:ext cx="9017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714500" y="2654300"/>
            <a:ext cx="672142" cy="369332"/>
          </a:xfrm>
          <a:prstGeom prst="rect">
            <a:avLst/>
          </a:prstGeom>
          <a:noFill/>
        </p:spPr>
        <p:txBody>
          <a:bodyPr wrap="none" rtlCol="0">
            <a:spAutoFit/>
          </a:bodyPr>
          <a:lstStyle/>
          <a:p>
            <a:r>
              <a:rPr lang="en-US" dirty="0" smtClean="0"/>
              <a:t>Start</a:t>
            </a:r>
            <a:endParaRPr lang="en-US" dirty="0"/>
          </a:p>
        </p:txBody>
      </p:sp>
    </p:spTree>
    <p:extLst>
      <p:ext uri="{BB962C8B-B14F-4D97-AF65-F5344CB8AC3E}">
        <p14:creationId xmlns:p14="http://schemas.microsoft.com/office/powerpoint/2010/main" val="2422068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Machine Code Example</a:t>
            </a:r>
            <a:endParaRPr lang="en-US" dirty="0"/>
          </a:p>
        </p:txBody>
      </p:sp>
      <p:pic>
        <p:nvPicPr>
          <p:cNvPr id="10" name="Picture 9" descr="Screen Shot 2016-06-24 at 12.54.06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87400" y="1524000"/>
            <a:ext cx="5128364" cy="4768850"/>
          </a:xfrm>
          <a:prstGeom prst="rect">
            <a:avLst/>
          </a:prstGeom>
        </p:spPr>
      </p:pic>
      <p:pic>
        <p:nvPicPr>
          <p:cNvPr id="11" name="Picture 10" descr="Screen Shot 2016-06-23 at 9.52.24 PM.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11600" y="3251246"/>
            <a:ext cx="5143500" cy="2184354"/>
          </a:xfrm>
          <a:prstGeom prst="rect">
            <a:avLst/>
          </a:prstGeom>
        </p:spPr>
      </p:pic>
    </p:spTree>
    <p:extLst>
      <p:ext uri="{BB962C8B-B14F-4D97-AF65-F5344CB8AC3E}">
        <p14:creationId xmlns:p14="http://schemas.microsoft.com/office/powerpoint/2010/main" val="3648411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Simplest FSM</a:t>
            </a:r>
            <a:endParaRPr lang="en-US" dirty="0"/>
          </a:p>
        </p:txBody>
      </p:sp>
      <p:pic>
        <p:nvPicPr>
          <p:cNvPr id="4" name="Picture 3" descr="Screen Shot 2016-06-24 at 12.53.13 AM.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2301" y="1904999"/>
            <a:ext cx="2975306" cy="3169770"/>
          </a:xfrm>
          <a:prstGeom prst="rect">
            <a:avLst/>
          </a:prstGeom>
        </p:spPr>
      </p:pic>
      <p:pic>
        <p:nvPicPr>
          <p:cNvPr id="5" name="Picture 4" descr="Screen Shot 2016-06-24 at 12.53.22 AM.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40300" y="1905000"/>
            <a:ext cx="2975306" cy="3169770"/>
          </a:xfrm>
          <a:prstGeom prst="rect">
            <a:avLst/>
          </a:prstGeom>
        </p:spPr>
      </p:pic>
      <p:cxnSp>
        <p:nvCxnSpPr>
          <p:cNvPr id="6" name="Straight Arrow Connector 5"/>
          <p:cNvCxnSpPr/>
          <p:nvPr/>
        </p:nvCxnSpPr>
        <p:spPr>
          <a:xfrm flipV="1">
            <a:off x="3597607" y="2946400"/>
            <a:ext cx="1342693" cy="25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538641" y="2600523"/>
            <a:ext cx="1375497" cy="307777"/>
          </a:xfrm>
          <a:prstGeom prst="rect">
            <a:avLst/>
          </a:prstGeom>
          <a:noFill/>
        </p:spPr>
        <p:txBody>
          <a:bodyPr wrap="none" rtlCol="0">
            <a:spAutoFit/>
          </a:bodyPr>
          <a:lstStyle/>
          <a:p>
            <a:r>
              <a:rPr lang="en-US" sz="1400" dirty="0" smtClean="0"/>
              <a:t>‘b’ key pressed</a:t>
            </a:r>
            <a:endParaRPr lang="en-US" sz="1400" dirty="0"/>
          </a:p>
        </p:txBody>
      </p:sp>
      <p:cxnSp>
        <p:nvCxnSpPr>
          <p:cNvPr id="8" name="Straight Arrow Connector 7"/>
          <p:cNvCxnSpPr/>
          <p:nvPr/>
        </p:nvCxnSpPr>
        <p:spPr>
          <a:xfrm flipH="1">
            <a:off x="3543300" y="4076700"/>
            <a:ext cx="1397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500541" y="4127500"/>
            <a:ext cx="1545615" cy="338554"/>
          </a:xfrm>
          <a:prstGeom prst="rect">
            <a:avLst/>
          </a:prstGeom>
          <a:noFill/>
        </p:spPr>
        <p:txBody>
          <a:bodyPr wrap="none" rtlCol="0">
            <a:spAutoFit/>
          </a:bodyPr>
          <a:lstStyle/>
          <a:p>
            <a:r>
              <a:rPr lang="en-US" sz="1600" dirty="0" smtClean="0"/>
              <a:t>‘a’ key pressed</a:t>
            </a:r>
            <a:endParaRPr lang="en-US" sz="1600" dirty="0"/>
          </a:p>
        </p:txBody>
      </p:sp>
    </p:spTree>
    <p:extLst>
      <p:ext uri="{BB962C8B-B14F-4D97-AF65-F5344CB8AC3E}">
        <p14:creationId xmlns:p14="http://schemas.microsoft.com/office/powerpoint/2010/main" val="4282856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Robot Example</a:t>
            </a:r>
            <a:endParaRPr lang="en-US" dirty="0"/>
          </a:p>
        </p:txBody>
      </p:sp>
      <p:sp>
        <p:nvSpPr>
          <p:cNvPr id="4" name="Rectangle 3"/>
          <p:cNvSpPr/>
          <p:nvPr/>
        </p:nvSpPr>
        <p:spPr>
          <a:xfrm>
            <a:off x="1524000" y="2692400"/>
            <a:ext cx="1041400" cy="876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t>Moving</a:t>
            </a:r>
            <a:r>
              <a:rPr lang="en-US" dirty="0" smtClean="0"/>
              <a:t> </a:t>
            </a:r>
          </a:p>
          <a:p>
            <a:pPr algn="ctr"/>
            <a:r>
              <a:rPr lang="en-US" sz="1400" dirty="0" smtClean="0"/>
              <a:t>Forward</a:t>
            </a:r>
            <a:endParaRPr lang="en-US" sz="1400" dirty="0"/>
          </a:p>
        </p:txBody>
      </p:sp>
      <p:sp>
        <p:nvSpPr>
          <p:cNvPr id="5" name="Rectangle 4"/>
          <p:cNvSpPr/>
          <p:nvPr/>
        </p:nvSpPr>
        <p:spPr>
          <a:xfrm>
            <a:off x="5130800" y="2692400"/>
            <a:ext cx="1041400" cy="876300"/>
          </a:xfrm>
          <a:prstGeom prst="rect">
            <a:avLst/>
          </a:prstGeom>
          <a:solidFill>
            <a:schemeClr val="bg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7F7F7F"/>
                </a:solidFill>
              </a:rPr>
              <a:t>Moving </a:t>
            </a:r>
          </a:p>
          <a:p>
            <a:pPr algn="ctr"/>
            <a:r>
              <a:rPr lang="en-US" sz="1400" dirty="0" smtClean="0">
                <a:solidFill>
                  <a:srgbClr val="7F7F7F"/>
                </a:solidFill>
              </a:rPr>
              <a:t>Backward</a:t>
            </a:r>
            <a:endParaRPr lang="en-US" sz="1400" dirty="0">
              <a:solidFill>
                <a:srgbClr val="7F7F7F"/>
              </a:solidFill>
            </a:endParaRPr>
          </a:p>
        </p:txBody>
      </p:sp>
      <p:cxnSp>
        <p:nvCxnSpPr>
          <p:cNvPr id="7" name="Straight Arrow Connector 6"/>
          <p:cNvCxnSpPr/>
          <p:nvPr/>
        </p:nvCxnSpPr>
        <p:spPr>
          <a:xfrm flipV="1">
            <a:off x="2565400" y="2946400"/>
            <a:ext cx="2565400" cy="25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086100" y="2514600"/>
            <a:ext cx="1715734" cy="369332"/>
          </a:xfrm>
          <a:prstGeom prst="rect">
            <a:avLst/>
          </a:prstGeom>
          <a:noFill/>
        </p:spPr>
        <p:txBody>
          <a:bodyPr wrap="none" rtlCol="0">
            <a:spAutoFit/>
          </a:bodyPr>
          <a:lstStyle/>
          <a:p>
            <a:r>
              <a:rPr lang="en-US" dirty="0" smtClean="0"/>
              <a:t>‘b’ key pressed</a:t>
            </a:r>
            <a:endParaRPr lang="en-US" dirty="0"/>
          </a:p>
        </p:txBody>
      </p:sp>
      <p:cxnSp>
        <p:nvCxnSpPr>
          <p:cNvPr id="10" name="Straight Arrow Connector 9"/>
          <p:cNvCxnSpPr/>
          <p:nvPr/>
        </p:nvCxnSpPr>
        <p:spPr>
          <a:xfrm flipH="1" flipV="1">
            <a:off x="2565400" y="3352800"/>
            <a:ext cx="2565400" cy="25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63534" y="3416300"/>
            <a:ext cx="1655659" cy="369332"/>
          </a:xfrm>
          <a:prstGeom prst="rect">
            <a:avLst/>
          </a:prstGeom>
          <a:noFill/>
        </p:spPr>
        <p:txBody>
          <a:bodyPr wrap="none" rtlCol="0">
            <a:spAutoFit/>
          </a:bodyPr>
          <a:lstStyle/>
          <a:p>
            <a:r>
              <a:rPr lang="en-US" dirty="0" smtClean="0"/>
              <a:t>‘f’ key pressed</a:t>
            </a:r>
            <a:endParaRPr lang="en-US" dirty="0"/>
          </a:p>
        </p:txBody>
      </p:sp>
      <p:cxnSp>
        <p:nvCxnSpPr>
          <p:cNvPr id="13" name="Curved Connector 12"/>
          <p:cNvCxnSpPr>
            <a:stCxn id="4" idx="1"/>
            <a:endCxn id="4" idx="2"/>
          </p:cNvCxnSpPr>
          <p:nvPr/>
        </p:nvCxnSpPr>
        <p:spPr>
          <a:xfrm rot="10800000" flipH="1" flipV="1">
            <a:off x="1524000" y="3130550"/>
            <a:ext cx="520700" cy="438150"/>
          </a:xfrm>
          <a:prstGeom prst="curvedConnector4">
            <a:avLst>
              <a:gd name="adj1" fmla="val -43902"/>
              <a:gd name="adj2" fmla="val 152174"/>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Curved Connector 14"/>
          <p:cNvCxnSpPr>
            <a:stCxn id="5" idx="3"/>
            <a:endCxn id="5" idx="2"/>
          </p:cNvCxnSpPr>
          <p:nvPr/>
        </p:nvCxnSpPr>
        <p:spPr>
          <a:xfrm flipH="1">
            <a:off x="5651500" y="3130550"/>
            <a:ext cx="520700" cy="438150"/>
          </a:xfrm>
          <a:prstGeom prst="curvedConnector4">
            <a:avLst>
              <a:gd name="adj1" fmla="val -43902"/>
              <a:gd name="adj2" fmla="val 152174"/>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314333" y="3823732"/>
            <a:ext cx="1715734" cy="369332"/>
          </a:xfrm>
          <a:prstGeom prst="rect">
            <a:avLst/>
          </a:prstGeom>
          <a:noFill/>
        </p:spPr>
        <p:txBody>
          <a:bodyPr wrap="none" rtlCol="0">
            <a:spAutoFit/>
          </a:bodyPr>
          <a:lstStyle/>
          <a:p>
            <a:r>
              <a:rPr lang="en-US" dirty="0" smtClean="0"/>
              <a:t>‘b’ key pressed</a:t>
            </a:r>
            <a:endParaRPr lang="en-US" dirty="0"/>
          </a:p>
        </p:txBody>
      </p:sp>
      <p:sp>
        <p:nvSpPr>
          <p:cNvPr id="17" name="TextBox 16"/>
          <p:cNvSpPr txBox="1"/>
          <p:nvPr/>
        </p:nvSpPr>
        <p:spPr>
          <a:xfrm>
            <a:off x="666133" y="3823732"/>
            <a:ext cx="1655659" cy="369332"/>
          </a:xfrm>
          <a:prstGeom prst="rect">
            <a:avLst/>
          </a:prstGeom>
          <a:noFill/>
        </p:spPr>
        <p:txBody>
          <a:bodyPr wrap="none" rtlCol="0">
            <a:spAutoFit/>
          </a:bodyPr>
          <a:lstStyle/>
          <a:p>
            <a:r>
              <a:rPr lang="en-US" dirty="0" smtClean="0"/>
              <a:t>‘f’ key pressed</a:t>
            </a:r>
            <a:endParaRPr lang="en-US" dirty="0"/>
          </a:p>
        </p:txBody>
      </p:sp>
      <p:cxnSp>
        <p:nvCxnSpPr>
          <p:cNvPr id="19" name="Straight Arrow Connector 18"/>
          <p:cNvCxnSpPr>
            <a:endCxn id="4" idx="0"/>
          </p:cNvCxnSpPr>
          <p:nvPr/>
        </p:nvCxnSpPr>
        <p:spPr>
          <a:xfrm>
            <a:off x="2044700" y="2082800"/>
            <a:ext cx="0" cy="609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39800" y="2247900"/>
            <a:ext cx="672142" cy="369332"/>
          </a:xfrm>
          <a:prstGeom prst="rect">
            <a:avLst/>
          </a:prstGeom>
          <a:noFill/>
        </p:spPr>
        <p:txBody>
          <a:bodyPr wrap="none" rtlCol="0">
            <a:spAutoFit/>
          </a:bodyPr>
          <a:lstStyle/>
          <a:p>
            <a:r>
              <a:rPr lang="en-US" dirty="0" smtClean="0"/>
              <a:t>Start</a:t>
            </a:r>
            <a:endParaRPr lang="en-US" dirty="0"/>
          </a:p>
        </p:txBody>
      </p:sp>
    </p:spTree>
    <p:extLst>
      <p:ext uri="{BB962C8B-B14F-4D97-AF65-F5344CB8AC3E}">
        <p14:creationId xmlns:p14="http://schemas.microsoft.com/office/powerpoint/2010/main" val="879071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Finite State Machines For Robot</a:t>
            </a:r>
            <a:endParaRPr lang="en-US" dirty="0"/>
          </a:p>
        </p:txBody>
      </p:sp>
      <p:sp>
        <p:nvSpPr>
          <p:cNvPr id="3" name="Content Placeholder 2"/>
          <p:cNvSpPr>
            <a:spLocks noGrp="1"/>
          </p:cNvSpPr>
          <p:nvPr>
            <p:ph idx="1"/>
          </p:nvPr>
        </p:nvSpPr>
        <p:spPr>
          <a:xfrm>
            <a:off x="457200" y="1600200"/>
            <a:ext cx="8407400" cy="1320800"/>
          </a:xfrm>
        </p:spPr>
        <p:txBody>
          <a:bodyPr/>
          <a:lstStyle/>
          <a:p>
            <a:r>
              <a:rPr lang="en-US" dirty="0" smtClean="0"/>
              <a:t>Need State Information</a:t>
            </a:r>
            <a:endParaRPr lang="en-US" dirty="0" smtClean="0"/>
          </a:p>
        </p:txBody>
      </p:sp>
      <p:sp>
        <p:nvSpPr>
          <p:cNvPr id="4" name="Rectangle 3"/>
          <p:cNvSpPr/>
          <p:nvPr/>
        </p:nvSpPr>
        <p:spPr>
          <a:xfrm rot="18004289">
            <a:off x="4542704" y="3483545"/>
            <a:ext cx="2841061" cy="6586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rot="1790361">
            <a:off x="6037819" y="3079944"/>
            <a:ext cx="2841061" cy="6586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Snip Same Side Corner Rectangle 6"/>
          <p:cNvSpPr/>
          <p:nvPr/>
        </p:nvSpPr>
        <p:spPr>
          <a:xfrm rot="20582362">
            <a:off x="6686991" y="3964786"/>
            <a:ext cx="495300" cy="519517"/>
          </a:xfrm>
          <a:prstGeom prst="snip2SameRect">
            <a:avLst/>
          </a:prstGeom>
          <a:solidFill>
            <a:srgbClr val="3366FF"/>
          </a:solidFill>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294399" y="5466016"/>
            <a:ext cx="2215833" cy="646331"/>
          </a:xfrm>
          <a:prstGeom prst="rect">
            <a:avLst/>
          </a:prstGeom>
          <a:noFill/>
        </p:spPr>
        <p:txBody>
          <a:bodyPr wrap="none" rtlCol="0">
            <a:spAutoFit/>
          </a:bodyPr>
          <a:lstStyle/>
          <a:p>
            <a:r>
              <a:rPr lang="en-US" dirty="0" smtClean="0"/>
              <a:t>Turn-left, turn-right?</a:t>
            </a:r>
          </a:p>
          <a:p>
            <a:r>
              <a:rPr lang="en-US" dirty="0" smtClean="0"/>
              <a:t>Oscillation problem</a:t>
            </a:r>
            <a:endParaRPr lang="en-US" dirty="0"/>
          </a:p>
        </p:txBody>
      </p:sp>
      <p:sp>
        <p:nvSpPr>
          <p:cNvPr id="9" name="Rectangle 8"/>
          <p:cNvSpPr/>
          <p:nvPr/>
        </p:nvSpPr>
        <p:spPr>
          <a:xfrm>
            <a:off x="3248047" y="3389038"/>
            <a:ext cx="1178405" cy="6586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Snip Same Side Corner Rectangle 9"/>
          <p:cNvSpPr/>
          <p:nvPr/>
        </p:nvSpPr>
        <p:spPr>
          <a:xfrm rot="998866">
            <a:off x="4058649" y="4372982"/>
            <a:ext cx="495300" cy="519517"/>
          </a:xfrm>
          <a:prstGeom prst="snip2SameRect">
            <a:avLst/>
          </a:prstGeom>
          <a:solidFill>
            <a:srgbClr val="3366FF"/>
          </a:solidFill>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3403600" y="5002768"/>
            <a:ext cx="1108334" cy="369332"/>
          </a:xfrm>
          <a:prstGeom prst="rect">
            <a:avLst/>
          </a:prstGeom>
          <a:noFill/>
        </p:spPr>
        <p:txBody>
          <a:bodyPr wrap="none" rtlCol="0">
            <a:spAutoFit/>
          </a:bodyPr>
          <a:lstStyle/>
          <a:p>
            <a:r>
              <a:rPr lang="en-US" dirty="0"/>
              <a:t>turn-right</a:t>
            </a:r>
          </a:p>
        </p:txBody>
      </p:sp>
      <p:sp>
        <p:nvSpPr>
          <p:cNvPr id="11" name="Rectangle 10"/>
          <p:cNvSpPr/>
          <p:nvPr/>
        </p:nvSpPr>
        <p:spPr>
          <a:xfrm>
            <a:off x="768129" y="3389038"/>
            <a:ext cx="1178405" cy="6586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Snip Same Side Corner Rectangle 11"/>
          <p:cNvSpPr/>
          <p:nvPr/>
        </p:nvSpPr>
        <p:spPr>
          <a:xfrm>
            <a:off x="676032" y="4372984"/>
            <a:ext cx="495300" cy="519517"/>
          </a:xfrm>
          <a:prstGeom prst="snip2SameRect">
            <a:avLst/>
          </a:prstGeom>
          <a:solidFill>
            <a:srgbClr val="3366FF"/>
          </a:solidFill>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923682" y="5002768"/>
            <a:ext cx="967219" cy="369332"/>
          </a:xfrm>
          <a:prstGeom prst="rect">
            <a:avLst/>
          </a:prstGeom>
          <a:noFill/>
        </p:spPr>
        <p:txBody>
          <a:bodyPr wrap="none" rtlCol="0">
            <a:spAutoFit/>
          </a:bodyPr>
          <a:lstStyle/>
          <a:p>
            <a:r>
              <a:rPr lang="en-US" dirty="0"/>
              <a:t>turn</a:t>
            </a:r>
            <a:r>
              <a:rPr lang="en-US" dirty="0" smtClean="0"/>
              <a:t>-left</a:t>
            </a:r>
            <a:endParaRPr lang="en-US" dirty="0"/>
          </a:p>
        </p:txBody>
      </p:sp>
    </p:spTree>
    <p:extLst>
      <p:ext uri="{BB962C8B-B14F-4D97-AF65-F5344CB8AC3E}">
        <p14:creationId xmlns:p14="http://schemas.microsoft.com/office/powerpoint/2010/main" val="4262063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#5: Obstacle </a:t>
            </a:r>
            <a:r>
              <a:rPr lang="en-US" dirty="0" smtClean="0"/>
              <a:t>Avoidance</a:t>
            </a:r>
            <a:endParaRPr lang="en-US" dirty="0"/>
          </a:p>
        </p:txBody>
      </p:sp>
      <p:sp>
        <p:nvSpPr>
          <p:cNvPr id="3" name="Content Placeholder 2"/>
          <p:cNvSpPr>
            <a:spLocks noGrp="1"/>
          </p:cNvSpPr>
          <p:nvPr>
            <p:ph idx="1"/>
          </p:nvPr>
        </p:nvSpPr>
        <p:spPr>
          <a:xfrm>
            <a:off x="457200" y="1600200"/>
            <a:ext cx="8102600" cy="965200"/>
          </a:xfrm>
        </p:spPr>
        <p:txBody>
          <a:bodyPr/>
          <a:lstStyle/>
          <a:p>
            <a:r>
              <a:rPr lang="en-US" dirty="0"/>
              <a:t>Response to an event is dependent on the “state” of the robot</a:t>
            </a:r>
          </a:p>
          <a:p>
            <a:endParaRPr lang="en-US" dirty="0"/>
          </a:p>
        </p:txBody>
      </p:sp>
      <p:sp>
        <p:nvSpPr>
          <p:cNvPr id="4" name="Rectangle 3"/>
          <p:cNvSpPr/>
          <p:nvPr/>
        </p:nvSpPr>
        <p:spPr>
          <a:xfrm rot="18004289">
            <a:off x="199747" y="3635007"/>
            <a:ext cx="2841061" cy="6586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rot="1790361">
            <a:off x="1694862" y="3231406"/>
            <a:ext cx="2841061" cy="6586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nip Same Side Corner Rectangle 5"/>
          <p:cNvSpPr/>
          <p:nvPr/>
        </p:nvSpPr>
        <p:spPr>
          <a:xfrm rot="20582362">
            <a:off x="2344034" y="4116248"/>
            <a:ext cx="495300" cy="519517"/>
          </a:xfrm>
          <a:prstGeom prst="snip2SameRect">
            <a:avLst/>
          </a:prstGeom>
          <a:solidFill>
            <a:srgbClr val="3366FF"/>
          </a:solidFill>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6400800" y="2705100"/>
            <a:ext cx="660400" cy="596900"/>
          </a:xfrm>
          <a:prstGeom prst="ellipse">
            <a:avLst/>
          </a:prstGeom>
          <a:solidFill>
            <a:srgbClr val="EDBAB1"/>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M</a:t>
            </a:r>
          </a:p>
        </p:txBody>
      </p:sp>
      <p:sp>
        <p:nvSpPr>
          <p:cNvPr id="8" name="Oval 7"/>
          <p:cNvSpPr/>
          <p:nvPr/>
        </p:nvSpPr>
        <p:spPr>
          <a:xfrm>
            <a:off x="5575300" y="4299429"/>
            <a:ext cx="660400" cy="596900"/>
          </a:xfrm>
          <a:prstGeom prst="ellipse">
            <a:avLst/>
          </a:prstGeom>
          <a:solidFill>
            <a:srgbClr val="EDBAB1"/>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a:t>
            </a:r>
          </a:p>
        </p:txBody>
      </p:sp>
      <p:sp>
        <p:nvSpPr>
          <p:cNvPr id="9" name="Oval 8"/>
          <p:cNvSpPr/>
          <p:nvPr/>
        </p:nvSpPr>
        <p:spPr>
          <a:xfrm>
            <a:off x="7467600" y="4299429"/>
            <a:ext cx="660400" cy="596900"/>
          </a:xfrm>
          <a:prstGeom prst="ellipse">
            <a:avLst/>
          </a:prstGeom>
          <a:solidFill>
            <a:srgbClr val="EDBAB1"/>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R</a:t>
            </a:r>
            <a:endParaRPr lang="en-US" dirty="0"/>
          </a:p>
        </p:txBody>
      </p:sp>
      <p:cxnSp>
        <p:nvCxnSpPr>
          <p:cNvPr id="11" name="Straight Arrow Connector 10"/>
          <p:cNvCxnSpPr>
            <a:endCxn id="7" idx="0"/>
          </p:cNvCxnSpPr>
          <p:nvPr/>
        </p:nvCxnSpPr>
        <p:spPr>
          <a:xfrm>
            <a:off x="6731000" y="2362200"/>
            <a:ext cx="0" cy="3429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795458" y="2329934"/>
            <a:ext cx="672142" cy="369332"/>
          </a:xfrm>
          <a:prstGeom prst="rect">
            <a:avLst/>
          </a:prstGeom>
          <a:noFill/>
        </p:spPr>
        <p:txBody>
          <a:bodyPr wrap="none" rtlCol="0">
            <a:spAutoFit/>
          </a:bodyPr>
          <a:lstStyle/>
          <a:p>
            <a:r>
              <a:rPr lang="en-US" dirty="0" smtClean="0">
                <a:solidFill>
                  <a:srgbClr val="7F7F7F"/>
                </a:solidFill>
              </a:rPr>
              <a:t>Start</a:t>
            </a:r>
            <a:endParaRPr lang="en-US" dirty="0">
              <a:solidFill>
                <a:srgbClr val="7F7F7F"/>
              </a:solidFill>
            </a:endParaRPr>
          </a:p>
        </p:txBody>
      </p:sp>
      <p:sp>
        <p:nvSpPr>
          <p:cNvPr id="14" name="TextBox 13"/>
          <p:cNvSpPr txBox="1"/>
          <p:nvPr/>
        </p:nvSpPr>
        <p:spPr>
          <a:xfrm>
            <a:off x="5389880" y="2568255"/>
            <a:ext cx="1031239" cy="646331"/>
          </a:xfrm>
          <a:prstGeom prst="rect">
            <a:avLst/>
          </a:prstGeom>
          <a:noFill/>
        </p:spPr>
        <p:txBody>
          <a:bodyPr wrap="none" rtlCol="0">
            <a:spAutoFit/>
          </a:bodyPr>
          <a:lstStyle/>
          <a:p>
            <a:r>
              <a:rPr lang="en-US" dirty="0" smtClean="0">
                <a:solidFill>
                  <a:srgbClr val="7F7F7F"/>
                </a:solidFill>
              </a:rPr>
              <a:t>Moving </a:t>
            </a:r>
          </a:p>
          <a:p>
            <a:r>
              <a:rPr lang="en-US" dirty="0" smtClean="0">
                <a:solidFill>
                  <a:srgbClr val="7F7F7F"/>
                </a:solidFill>
              </a:rPr>
              <a:t>Forward</a:t>
            </a:r>
            <a:endParaRPr lang="en-US" dirty="0">
              <a:solidFill>
                <a:srgbClr val="7F7F7F"/>
              </a:solidFill>
            </a:endParaRPr>
          </a:p>
        </p:txBody>
      </p:sp>
      <p:cxnSp>
        <p:nvCxnSpPr>
          <p:cNvPr id="16" name="Straight Arrow Connector 15"/>
          <p:cNvCxnSpPr>
            <a:stCxn id="7" idx="3"/>
            <a:endCxn id="8" idx="0"/>
          </p:cNvCxnSpPr>
          <p:nvPr/>
        </p:nvCxnSpPr>
        <p:spPr>
          <a:xfrm flipH="1">
            <a:off x="5905500" y="3214586"/>
            <a:ext cx="592013" cy="108484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8" idx="7"/>
            <a:endCxn id="7" idx="4"/>
          </p:cNvCxnSpPr>
          <p:nvPr/>
        </p:nvCxnSpPr>
        <p:spPr>
          <a:xfrm flipV="1">
            <a:off x="6138987" y="3302000"/>
            <a:ext cx="592013" cy="108484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7" idx="6"/>
            <a:endCxn id="9" idx="0"/>
          </p:cNvCxnSpPr>
          <p:nvPr/>
        </p:nvCxnSpPr>
        <p:spPr>
          <a:xfrm>
            <a:off x="7061200" y="3003550"/>
            <a:ext cx="736600" cy="129587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9" idx="1"/>
            <a:endCxn id="7" idx="5"/>
          </p:cNvCxnSpPr>
          <p:nvPr/>
        </p:nvCxnSpPr>
        <p:spPr>
          <a:xfrm flipH="1" flipV="1">
            <a:off x="6964487" y="3214586"/>
            <a:ext cx="599826" cy="11722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Curved Connector 27"/>
          <p:cNvCxnSpPr>
            <a:stCxn id="8" idx="4"/>
            <a:endCxn id="8" idx="2"/>
          </p:cNvCxnSpPr>
          <p:nvPr/>
        </p:nvCxnSpPr>
        <p:spPr>
          <a:xfrm rot="5400000" flipH="1">
            <a:off x="5591175" y="4582004"/>
            <a:ext cx="298450" cy="330200"/>
          </a:xfrm>
          <a:prstGeom prst="curvedConnector4">
            <a:avLst>
              <a:gd name="adj1" fmla="val -76596"/>
              <a:gd name="adj2" fmla="val 169231"/>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26117" y="5150029"/>
            <a:ext cx="958766" cy="646331"/>
          </a:xfrm>
          <a:prstGeom prst="rect">
            <a:avLst/>
          </a:prstGeom>
          <a:noFill/>
        </p:spPr>
        <p:txBody>
          <a:bodyPr wrap="none" rtlCol="0">
            <a:spAutoFit/>
          </a:bodyPr>
          <a:lstStyle/>
          <a:p>
            <a:r>
              <a:rPr lang="en-US" dirty="0" smtClean="0">
                <a:solidFill>
                  <a:srgbClr val="7F7F7F"/>
                </a:solidFill>
              </a:rPr>
              <a:t>Turning </a:t>
            </a:r>
          </a:p>
          <a:p>
            <a:r>
              <a:rPr lang="en-US" dirty="0" smtClean="0">
                <a:solidFill>
                  <a:srgbClr val="7F7F7F"/>
                </a:solidFill>
              </a:rPr>
              <a:t>Left</a:t>
            </a:r>
            <a:endParaRPr lang="en-US" dirty="0">
              <a:solidFill>
                <a:srgbClr val="7F7F7F"/>
              </a:solidFill>
            </a:endParaRPr>
          </a:p>
        </p:txBody>
      </p:sp>
      <p:sp>
        <p:nvSpPr>
          <p:cNvPr id="31" name="TextBox 30"/>
          <p:cNvSpPr txBox="1"/>
          <p:nvPr/>
        </p:nvSpPr>
        <p:spPr>
          <a:xfrm>
            <a:off x="7526213" y="5156558"/>
            <a:ext cx="958766" cy="646331"/>
          </a:xfrm>
          <a:prstGeom prst="rect">
            <a:avLst/>
          </a:prstGeom>
          <a:noFill/>
        </p:spPr>
        <p:txBody>
          <a:bodyPr wrap="none" rtlCol="0">
            <a:spAutoFit/>
          </a:bodyPr>
          <a:lstStyle/>
          <a:p>
            <a:r>
              <a:rPr lang="en-US" dirty="0" smtClean="0">
                <a:solidFill>
                  <a:srgbClr val="7F7F7F"/>
                </a:solidFill>
              </a:rPr>
              <a:t>Turning </a:t>
            </a:r>
          </a:p>
          <a:p>
            <a:r>
              <a:rPr lang="en-US" dirty="0" smtClean="0">
                <a:solidFill>
                  <a:srgbClr val="7F7F7F"/>
                </a:solidFill>
              </a:rPr>
              <a:t>Right</a:t>
            </a:r>
            <a:endParaRPr lang="en-US" dirty="0">
              <a:solidFill>
                <a:srgbClr val="7F7F7F"/>
              </a:solidFill>
            </a:endParaRPr>
          </a:p>
        </p:txBody>
      </p:sp>
      <p:cxnSp>
        <p:nvCxnSpPr>
          <p:cNvPr id="33" name="Curved Connector 32"/>
          <p:cNvCxnSpPr>
            <a:stCxn id="9" idx="6"/>
            <a:endCxn id="9" idx="4"/>
          </p:cNvCxnSpPr>
          <p:nvPr/>
        </p:nvCxnSpPr>
        <p:spPr>
          <a:xfrm flipH="1">
            <a:off x="7797800" y="4597879"/>
            <a:ext cx="330200" cy="298450"/>
          </a:xfrm>
          <a:prstGeom prst="curvedConnector4">
            <a:avLst>
              <a:gd name="adj1" fmla="val -69231"/>
              <a:gd name="adj2" fmla="val 176596"/>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05863" y="3928152"/>
            <a:ext cx="494033" cy="307777"/>
          </a:xfrm>
          <a:prstGeom prst="rect">
            <a:avLst/>
          </a:prstGeom>
          <a:noFill/>
        </p:spPr>
        <p:txBody>
          <a:bodyPr wrap="none" rtlCol="0">
            <a:spAutoFit/>
          </a:bodyPr>
          <a:lstStyle/>
          <a:p>
            <a:r>
              <a:rPr lang="en-US" sz="1400" dirty="0" smtClean="0"/>
              <a:t>free</a:t>
            </a:r>
            <a:endParaRPr lang="en-US" sz="1400" dirty="0"/>
          </a:p>
        </p:txBody>
      </p:sp>
      <p:sp>
        <p:nvSpPr>
          <p:cNvPr id="36" name="TextBox 35"/>
          <p:cNvSpPr txBox="1"/>
          <p:nvPr/>
        </p:nvSpPr>
        <p:spPr>
          <a:xfrm>
            <a:off x="6919592" y="3978952"/>
            <a:ext cx="494033" cy="307777"/>
          </a:xfrm>
          <a:prstGeom prst="rect">
            <a:avLst/>
          </a:prstGeom>
          <a:noFill/>
        </p:spPr>
        <p:txBody>
          <a:bodyPr wrap="none" rtlCol="0">
            <a:spAutoFit/>
          </a:bodyPr>
          <a:lstStyle/>
          <a:p>
            <a:r>
              <a:rPr lang="en-US" sz="1400" dirty="0" smtClean="0"/>
              <a:t>free</a:t>
            </a:r>
            <a:endParaRPr lang="en-US" sz="1400" dirty="0"/>
          </a:p>
        </p:txBody>
      </p:sp>
      <p:sp>
        <p:nvSpPr>
          <p:cNvPr id="37" name="TextBox 36"/>
          <p:cNvSpPr txBox="1"/>
          <p:nvPr/>
        </p:nvSpPr>
        <p:spPr>
          <a:xfrm>
            <a:off x="5627841" y="3417632"/>
            <a:ext cx="607859" cy="523220"/>
          </a:xfrm>
          <a:prstGeom prst="rect">
            <a:avLst/>
          </a:prstGeom>
          <a:noFill/>
        </p:spPr>
        <p:txBody>
          <a:bodyPr wrap="none" rtlCol="0">
            <a:spAutoFit/>
          </a:bodyPr>
          <a:lstStyle/>
          <a:p>
            <a:r>
              <a:rPr lang="en-US" sz="1400" dirty="0" err="1" smtClean="0">
                <a:solidFill>
                  <a:srgbClr val="7F7F7F"/>
                </a:solidFill>
              </a:rPr>
              <a:t>Obs</a:t>
            </a:r>
            <a:endParaRPr lang="en-US" sz="1400" dirty="0" smtClean="0">
              <a:solidFill>
                <a:srgbClr val="7F7F7F"/>
              </a:solidFill>
            </a:endParaRPr>
          </a:p>
          <a:p>
            <a:r>
              <a:rPr lang="en-US" sz="1400" dirty="0" smtClean="0">
                <a:solidFill>
                  <a:srgbClr val="7F7F7F"/>
                </a:solidFill>
              </a:rPr>
              <a:t>Right</a:t>
            </a:r>
            <a:endParaRPr lang="en-US" sz="1400" dirty="0">
              <a:solidFill>
                <a:srgbClr val="7F7F7F"/>
              </a:solidFill>
            </a:endParaRPr>
          </a:p>
        </p:txBody>
      </p:sp>
      <p:sp>
        <p:nvSpPr>
          <p:cNvPr id="38" name="TextBox 37"/>
          <p:cNvSpPr txBox="1"/>
          <p:nvPr/>
        </p:nvSpPr>
        <p:spPr>
          <a:xfrm>
            <a:off x="7526213" y="3431664"/>
            <a:ext cx="513933" cy="523220"/>
          </a:xfrm>
          <a:prstGeom prst="rect">
            <a:avLst/>
          </a:prstGeom>
          <a:noFill/>
        </p:spPr>
        <p:txBody>
          <a:bodyPr wrap="none" rtlCol="0">
            <a:spAutoFit/>
          </a:bodyPr>
          <a:lstStyle/>
          <a:p>
            <a:r>
              <a:rPr lang="en-US" sz="1400" dirty="0" err="1" smtClean="0">
                <a:solidFill>
                  <a:srgbClr val="7F7F7F"/>
                </a:solidFill>
              </a:rPr>
              <a:t>Obs</a:t>
            </a:r>
            <a:endParaRPr lang="en-US" sz="1400" dirty="0" smtClean="0">
              <a:solidFill>
                <a:srgbClr val="7F7F7F"/>
              </a:solidFill>
            </a:endParaRPr>
          </a:p>
          <a:p>
            <a:r>
              <a:rPr lang="en-US" sz="1400" dirty="0" smtClean="0">
                <a:solidFill>
                  <a:srgbClr val="7F7F7F"/>
                </a:solidFill>
              </a:rPr>
              <a:t>Left</a:t>
            </a:r>
            <a:endParaRPr lang="en-US" sz="1400" dirty="0">
              <a:solidFill>
                <a:srgbClr val="7F7F7F"/>
              </a:solidFill>
            </a:endParaRPr>
          </a:p>
        </p:txBody>
      </p:sp>
      <p:sp>
        <p:nvSpPr>
          <p:cNvPr id="39" name="TextBox 38"/>
          <p:cNvSpPr txBox="1"/>
          <p:nvPr/>
        </p:nvSpPr>
        <p:spPr>
          <a:xfrm>
            <a:off x="4690018" y="4306487"/>
            <a:ext cx="736099" cy="738664"/>
          </a:xfrm>
          <a:prstGeom prst="rect">
            <a:avLst/>
          </a:prstGeom>
          <a:noFill/>
        </p:spPr>
        <p:txBody>
          <a:bodyPr wrap="none" rtlCol="0">
            <a:spAutoFit/>
          </a:bodyPr>
          <a:lstStyle/>
          <a:p>
            <a:r>
              <a:rPr lang="en-US" sz="1400" dirty="0" err="1" smtClean="0">
                <a:solidFill>
                  <a:srgbClr val="7F7F7F"/>
                </a:solidFill>
              </a:rPr>
              <a:t>Obs</a:t>
            </a:r>
            <a:endParaRPr lang="en-US" sz="1400" dirty="0" smtClean="0">
              <a:solidFill>
                <a:srgbClr val="7F7F7F"/>
              </a:solidFill>
            </a:endParaRPr>
          </a:p>
          <a:p>
            <a:r>
              <a:rPr lang="en-US" sz="1400" dirty="0" smtClean="0">
                <a:solidFill>
                  <a:srgbClr val="7F7F7F"/>
                </a:solidFill>
              </a:rPr>
              <a:t>Right </a:t>
            </a:r>
          </a:p>
          <a:p>
            <a:r>
              <a:rPr lang="en-US" sz="1400" dirty="0" smtClean="0">
                <a:solidFill>
                  <a:srgbClr val="7F7F7F"/>
                </a:solidFill>
              </a:rPr>
              <a:t>Or Left</a:t>
            </a:r>
            <a:endParaRPr lang="en-US" sz="1400" dirty="0">
              <a:solidFill>
                <a:srgbClr val="7F7F7F"/>
              </a:solidFill>
            </a:endParaRPr>
          </a:p>
        </p:txBody>
      </p:sp>
      <p:sp>
        <p:nvSpPr>
          <p:cNvPr id="40" name="TextBox 39"/>
          <p:cNvSpPr txBox="1"/>
          <p:nvPr/>
        </p:nvSpPr>
        <p:spPr>
          <a:xfrm>
            <a:off x="8293350" y="4327530"/>
            <a:ext cx="736099" cy="738664"/>
          </a:xfrm>
          <a:prstGeom prst="rect">
            <a:avLst/>
          </a:prstGeom>
          <a:noFill/>
        </p:spPr>
        <p:txBody>
          <a:bodyPr wrap="none" rtlCol="0">
            <a:spAutoFit/>
          </a:bodyPr>
          <a:lstStyle/>
          <a:p>
            <a:r>
              <a:rPr lang="en-US" sz="1400" dirty="0" err="1" smtClean="0">
                <a:solidFill>
                  <a:srgbClr val="7F7F7F"/>
                </a:solidFill>
              </a:rPr>
              <a:t>Obs</a:t>
            </a:r>
            <a:endParaRPr lang="en-US" sz="1400" dirty="0" smtClean="0">
              <a:solidFill>
                <a:srgbClr val="7F7F7F"/>
              </a:solidFill>
            </a:endParaRPr>
          </a:p>
          <a:p>
            <a:r>
              <a:rPr lang="en-US" sz="1400" dirty="0" smtClean="0">
                <a:solidFill>
                  <a:srgbClr val="7F7F7F"/>
                </a:solidFill>
              </a:rPr>
              <a:t>Right </a:t>
            </a:r>
          </a:p>
          <a:p>
            <a:r>
              <a:rPr lang="en-US" sz="1400" dirty="0" smtClean="0">
                <a:solidFill>
                  <a:srgbClr val="7F7F7F"/>
                </a:solidFill>
              </a:rPr>
              <a:t>Or Left</a:t>
            </a:r>
            <a:endParaRPr lang="en-US" sz="1400" dirty="0">
              <a:solidFill>
                <a:srgbClr val="7F7F7F"/>
              </a:solidFill>
            </a:endParaRPr>
          </a:p>
        </p:txBody>
      </p:sp>
    </p:spTree>
    <p:extLst>
      <p:ext uri="{BB962C8B-B14F-4D97-AF65-F5344CB8AC3E}">
        <p14:creationId xmlns:p14="http://schemas.microsoft.com/office/powerpoint/2010/main" val="30732619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Lab #5: Improving The Escape Program</a:t>
            </a:r>
            <a:endParaRPr lang="en-US" dirty="0"/>
          </a:p>
        </p:txBody>
      </p:sp>
      <p:sp>
        <p:nvSpPr>
          <p:cNvPr id="3" name="Content Placeholder 2"/>
          <p:cNvSpPr>
            <a:spLocks noGrp="1"/>
          </p:cNvSpPr>
          <p:nvPr>
            <p:ph idx="1"/>
          </p:nvPr>
        </p:nvSpPr>
        <p:spPr/>
        <p:txBody>
          <a:bodyPr/>
          <a:lstStyle/>
          <a:p>
            <a:r>
              <a:rPr lang="en-US" dirty="0" smtClean="0"/>
              <a:t>Using the FSM avoidance code in the escape program</a:t>
            </a:r>
            <a:endParaRPr lang="en-US" dirty="0"/>
          </a:p>
        </p:txBody>
      </p:sp>
    </p:spTree>
    <p:extLst>
      <p:ext uri="{BB962C8B-B14F-4D97-AF65-F5344CB8AC3E}">
        <p14:creationId xmlns:p14="http://schemas.microsoft.com/office/powerpoint/2010/main" val="3331736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Lab Extra: </a:t>
            </a:r>
            <a:r>
              <a:rPr lang="en-US" dirty="0" smtClean="0"/>
              <a:t>“Cleaner” (Push Out “Trash”)</a:t>
            </a:r>
            <a:endParaRPr lang="en-US" dirty="0"/>
          </a:p>
        </p:txBody>
      </p:sp>
      <p:sp>
        <p:nvSpPr>
          <p:cNvPr id="4" name="Rectangle 3"/>
          <p:cNvSpPr/>
          <p:nvPr/>
        </p:nvSpPr>
        <p:spPr>
          <a:xfrm>
            <a:off x="813433" y="1657473"/>
            <a:ext cx="7620596" cy="4563776"/>
          </a:xfrm>
          <a:prstGeom prst="rect">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1098849" y="2052444"/>
            <a:ext cx="6992681" cy="381208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8" name="Group 7"/>
          <p:cNvGrpSpPr/>
          <p:nvPr/>
        </p:nvGrpSpPr>
        <p:grpSpPr>
          <a:xfrm rot="19228687">
            <a:off x="3952277" y="3178404"/>
            <a:ext cx="670725" cy="696897"/>
            <a:chOff x="4837794" y="3783543"/>
            <a:chExt cx="670725" cy="696897"/>
          </a:xfrm>
        </p:grpSpPr>
        <p:sp>
          <p:nvSpPr>
            <p:cNvPr id="12" name="Rectangle 11"/>
            <p:cNvSpPr/>
            <p:nvPr/>
          </p:nvSpPr>
          <p:spPr>
            <a:xfrm>
              <a:off x="4837794" y="3783543"/>
              <a:ext cx="670725" cy="69689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4923419" y="3904829"/>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5218522" y="3897694"/>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Rectangle 2"/>
          <p:cNvSpPr/>
          <p:nvPr/>
        </p:nvSpPr>
        <p:spPr>
          <a:xfrm rot="197820">
            <a:off x="2954701" y="2567728"/>
            <a:ext cx="781875" cy="71198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3072129" y="4133946"/>
            <a:ext cx="3124200" cy="1754327"/>
          </a:xfrm>
          <a:prstGeom prst="rect">
            <a:avLst/>
          </a:prstGeom>
          <a:noFill/>
        </p:spPr>
        <p:txBody>
          <a:bodyPr wrap="square" rtlCol="0">
            <a:spAutoFit/>
          </a:bodyPr>
          <a:lstStyle/>
          <a:p>
            <a:pPr marL="285750" indent="-285750">
              <a:buFont typeface="Arial"/>
              <a:buChar char="•"/>
            </a:pPr>
            <a:r>
              <a:rPr lang="en-US" dirty="0" smtClean="0"/>
              <a:t>Trash: small white boxes, about same size as robot, very light</a:t>
            </a:r>
          </a:p>
          <a:p>
            <a:pPr marL="285750" indent="-285750">
              <a:buFont typeface="Arial"/>
              <a:buChar char="•"/>
            </a:pPr>
            <a:r>
              <a:rPr lang="en-US" dirty="0" smtClean="0"/>
              <a:t>No other obstacles inside boundary except trash</a:t>
            </a:r>
          </a:p>
          <a:p>
            <a:pPr marL="285750" indent="-285750">
              <a:buFont typeface="Arial"/>
              <a:buChar char="•"/>
            </a:pPr>
            <a:endParaRPr lang="en-US" dirty="0"/>
          </a:p>
        </p:txBody>
      </p:sp>
      <p:sp>
        <p:nvSpPr>
          <p:cNvPr id="19" name="Rectangle 18"/>
          <p:cNvSpPr/>
          <p:nvPr/>
        </p:nvSpPr>
        <p:spPr>
          <a:xfrm rot="4152710">
            <a:off x="1773601" y="4447328"/>
            <a:ext cx="781875" cy="71198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rot="6494590">
            <a:off x="6117000" y="2854622"/>
            <a:ext cx="781875" cy="71198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rot="3718325">
            <a:off x="6828199" y="4260685"/>
            <a:ext cx="781875" cy="71198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4695358"/>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Clean Out Trash</a:t>
            </a:r>
            <a:endParaRPr lang="en-US" dirty="0"/>
          </a:p>
        </p:txBody>
      </p:sp>
      <p:grpSp>
        <p:nvGrpSpPr>
          <p:cNvPr id="3" name="Group 2"/>
          <p:cNvGrpSpPr/>
          <p:nvPr/>
        </p:nvGrpSpPr>
        <p:grpSpPr>
          <a:xfrm>
            <a:off x="813433" y="1657473"/>
            <a:ext cx="3388686" cy="2013297"/>
            <a:chOff x="813433" y="1657473"/>
            <a:chExt cx="7620596" cy="4563776"/>
          </a:xfrm>
        </p:grpSpPr>
        <p:sp>
          <p:nvSpPr>
            <p:cNvPr id="4" name="Rectangle 3"/>
            <p:cNvSpPr/>
            <p:nvPr/>
          </p:nvSpPr>
          <p:spPr>
            <a:xfrm>
              <a:off x="813433" y="1657473"/>
              <a:ext cx="7620596" cy="4563776"/>
            </a:xfrm>
            <a:prstGeom prst="rect">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1098849" y="2052444"/>
              <a:ext cx="6992681" cy="381208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 name="Group 7"/>
            <p:cNvGrpSpPr/>
            <p:nvPr/>
          </p:nvGrpSpPr>
          <p:grpSpPr>
            <a:xfrm rot="19228687">
              <a:off x="3952164" y="3178496"/>
              <a:ext cx="670725" cy="696897"/>
              <a:chOff x="4837648" y="3783542"/>
              <a:chExt cx="670725" cy="696897"/>
            </a:xfrm>
          </p:grpSpPr>
          <p:sp>
            <p:nvSpPr>
              <p:cNvPr id="12" name="Rectangle 11"/>
              <p:cNvSpPr/>
              <p:nvPr/>
            </p:nvSpPr>
            <p:spPr>
              <a:xfrm>
                <a:off x="4837648" y="3783542"/>
                <a:ext cx="670725" cy="69689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4923419" y="3904829"/>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5218522" y="3897694"/>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17" name="Rectangle 16"/>
          <p:cNvSpPr/>
          <p:nvPr/>
        </p:nvSpPr>
        <p:spPr>
          <a:xfrm>
            <a:off x="5073370" y="1688970"/>
            <a:ext cx="3388686" cy="2013297"/>
          </a:xfrm>
          <a:prstGeom prst="rect">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5200287" y="1863210"/>
            <a:ext cx="3109468" cy="1681689"/>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9" name="Group 18"/>
          <p:cNvGrpSpPr/>
          <p:nvPr/>
        </p:nvGrpSpPr>
        <p:grpSpPr>
          <a:xfrm rot="19228687">
            <a:off x="5897918" y="1724337"/>
            <a:ext cx="298254" cy="307434"/>
            <a:chOff x="4837794" y="3783543"/>
            <a:chExt cx="670725" cy="696897"/>
          </a:xfrm>
        </p:grpSpPr>
        <p:sp>
          <p:nvSpPr>
            <p:cNvPr id="23" name="Rectangle 22"/>
            <p:cNvSpPr/>
            <p:nvPr/>
          </p:nvSpPr>
          <p:spPr>
            <a:xfrm>
              <a:off x="4837794" y="3783543"/>
              <a:ext cx="670725" cy="69689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p:nvSpPr>
          <p:spPr>
            <a:xfrm>
              <a:off x="4923419" y="3904829"/>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5218522" y="3897694"/>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2" name="Donut 21"/>
          <p:cNvSpPr/>
          <p:nvPr/>
        </p:nvSpPr>
        <p:spPr>
          <a:xfrm>
            <a:off x="7467008" y="3093758"/>
            <a:ext cx="319211" cy="318888"/>
          </a:xfrm>
          <a:prstGeom prst="donut">
            <a:avLst/>
          </a:prstGeom>
          <a:solidFill>
            <a:schemeClr val="bg1">
              <a:lumMod val="6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6" name="Rectangle 25"/>
          <p:cNvSpPr/>
          <p:nvPr/>
        </p:nvSpPr>
        <p:spPr>
          <a:xfrm>
            <a:off x="5186775" y="4246145"/>
            <a:ext cx="3388686" cy="2013297"/>
          </a:xfrm>
          <a:prstGeom prst="rect">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5313692" y="4420385"/>
            <a:ext cx="3109468" cy="1681689"/>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5" name="Group 34"/>
          <p:cNvGrpSpPr/>
          <p:nvPr/>
        </p:nvGrpSpPr>
        <p:grpSpPr>
          <a:xfrm rot="12441227">
            <a:off x="5439239" y="4596279"/>
            <a:ext cx="328403" cy="293963"/>
            <a:chOff x="4837794" y="3783543"/>
            <a:chExt cx="670725" cy="696897"/>
          </a:xfrm>
        </p:grpSpPr>
        <p:sp>
          <p:nvSpPr>
            <p:cNvPr id="36" name="Rectangle 35"/>
            <p:cNvSpPr/>
            <p:nvPr/>
          </p:nvSpPr>
          <p:spPr>
            <a:xfrm>
              <a:off x="4837794" y="3783543"/>
              <a:ext cx="670725" cy="69689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36"/>
            <p:cNvSpPr/>
            <p:nvPr/>
          </p:nvSpPr>
          <p:spPr>
            <a:xfrm>
              <a:off x="4923419" y="3904829"/>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p:cNvSpPr/>
            <p:nvPr/>
          </p:nvSpPr>
          <p:spPr>
            <a:xfrm>
              <a:off x="5218522" y="3897694"/>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9" name="Rectangle 38"/>
          <p:cNvSpPr/>
          <p:nvPr/>
        </p:nvSpPr>
        <p:spPr>
          <a:xfrm>
            <a:off x="813433" y="4246145"/>
            <a:ext cx="3388686" cy="2013297"/>
          </a:xfrm>
          <a:prstGeom prst="rect">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p:cNvSpPr/>
          <p:nvPr/>
        </p:nvSpPr>
        <p:spPr>
          <a:xfrm>
            <a:off x="940350" y="4420385"/>
            <a:ext cx="3109468" cy="1681689"/>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7" name="Group 56"/>
          <p:cNvGrpSpPr/>
          <p:nvPr/>
        </p:nvGrpSpPr>
        <p:grpSpPr>
          <a:xfrm rot="8257077">
            <a:off x="1336392" y="5198610"/>
            <a:ext cx="337306" cy="373956"/>
            <a:chOff x="4837794" y="3783543"/>
            <a:chExt cx="670725" cy="696897"/>
          </a:xfrm>
        </p:grpSpPr>
        <p:sp>
          <p:nvSpPr>
            <p:cNvPr id="58" name="Rectangle 57"/>
            <p:cNvSpPr/>
            <p:nvPr/>
          </p:nvSpPr>
          <p:spPr>
            <a:xfrm>
              <a:off x="4837794" y="3783543"/>
              <a:ext cx="670725" cy="69689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ectangle 58"/>
            <p:cNvSpPr/>
            <p:nvPr/>
          </p:nvSpPr>
          <p:spPr>
            <a:xfrm>
              <a:off x="4923419" y="3904829"/>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59"/>
            <p:cNvSpPr/>
            <p:nvPr/>
          </p:nvSpPr>
          <p:spPr>
            <a:xfrm>
              <a:off x="5218522" y="3897694"/>
              <a:ext cx="167565" cy="74262"/>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4" name="Rectangle 43"/>
          <p:cNvSpPr/>
          <p:nvPr/>
        </p:nvSpPr>
        <p:spPr>
          <a:xfrm rot="4292152">
            <a:off x="1808811" y="1937003"/>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angle 44"/>
          <p:cNvSpPr/>
          <p:nvPr/>
        </p:nvSpPr>
        <p:spPr>
          <a:xfrm rot="4292152">
            <a:off x="5613886" y="1320192"/>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ight Arrow 5"/>
          <p:cNvSpPr/>
          <p:nvPr/>
        </p:nvSpPr>
        <p:spPr>
          <a:xfrm>
            <a:off x="4406900" y="2500783"/>
            <a:ext cx="495300" cy="43353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Down Arrow 8"/>
          <p:cNvSpPr/>
          <p:nvPr/>
        </p:nvSpPr>
        <p:spPr>
          <a:xfrm>
            <a:off x="6527800" y="3740367"/>
            <a:ext cx="444500" cy="36165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45"/>
          <p:cNvSpPr/>
          <p:nvPr/>
        </p:nvSpPr>
        <p:spPr>
          <a:xfrm rot="484932">
            <a:off x="1459761" y="2842636"/>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rot="484932">
            <a:off x="5622604" y="2858454"/>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p:nvPr/>
        </p:nvSpPr>
        <p:spPr>
          <a:xfrm rot="484932">
            <a:off x="5988640" y="5414556"/>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angle 48"/>
          <p:cNvSpPr/>
          <p:nvPr/>
        </p:nvSpPr>
        <p:spPr>
          <a:xfrm rot="4292152">
            <a:off x="5700785" y="3843954"/>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p:cNvSpPr/>
          <p:nvPr/>
        </p:nvSpPr>
        <p:spPr>
          <a:xfrm rot="4292152">
            <a:off x="1466360" y="3869355"/>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p:cNvSpPr/>
          <p:nvPr/>
        </p:nvSpPr>
        <p:spPr>
          <a:xfrm rot="484932">
            <a:off x="1770829" y="5449760"/>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Left Arrow 9"/>
          <p:cNvSpPr/>
          <p:nvPr/>
        </p:nvSpPr>
        <p:spPr>
          <a:xfrm>
            <a:off x="4394200" y="5057589"/>
            <a:ext cx="552170" cy="517144"/>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p:cNvSpPr/>
          <p:nvPr/>
        </p:nvSpPr>
        <p:spPr>
          <a:xfrm rot="2169647">
            <a:off x="3141029" y="2814219"/>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ctangle 52"/>
          <p:cNvSpPr/>
          <p:nvPr/>
        </p:nvSpPr>
        <p:spPr>
          <a:xfrm rot="2169647">
            <a:off x="7401847" y="2789433"/>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ctangle 53"/>
          <p:cNvSpPr/>
          <p:nvPr/>
        </p:nvSpPr>
        <p:spPr>
          <a:xfrm rot="2169647">
            <a:off x="3141030" y="5346830"/>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ctangle 54"/>
          <p:cNvSpPr/>
          <p:nvPr/>
        </p:nvSpPr>
        <p:spPr>
          <a:xfrm rot="2169647">
            <a:off x="7527953" y="5346831"/>
            <a:ext cx="362532" cy="40761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4217607"/>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Trash Cleaner Spec</a:t>
            </a:r>
            <a:endParaRPr lang="en-US" dirty="0"/>
          </a:p>
        </p:txBody>
      </p:sp>
      <p:sp>
        <p:nvSpPr>
          <p:cNvPr id="17" name="Content Placeholder 2"/>
          <p:cNvSpPr>
            <a:spLocks noGrp="1"/>
          </p:cNvSpPr>
          <p:nvPr>
            <p:ph idx="1"/>
          </p:nvPr>
        </p:nvSpPr>
        <p:spPr>
          <a:xfrm>
            <a:off x="457200" y="1600200"/>
            <a:ext cx="8229600" cy="4876800"/>
          </a:xfrm>
        </p:spPr>
        <p:txBody>
          <a:bodyPr/>
          <a:lstStyle/>
          <a:p>
            <a:r>
              <a:rPr lang="en-US" dirty="0" smtClean="0"/>
              <a:t>Push out trash to outside of boundary (black tape) – at least half of the “box” is outside of boundary</a:t>
            </a:r>
          </a:p>
          <a:p>
            <a:r>
              <a:rPr lang="en-US" dirty="0" smtClean="0"/>
              <a:t>Indicate (with sound or light) that track has been pushed out</a:t>
            </a:r>
          </a:p>
          <a:p>
            <a:r>
              <a:rPr lang="en-US" dirty="0" smtClean="0"/>
              <a:t>Quit  (success condition) after pushing 3 pieces of trash out</a:t>
            </a:r>
          </a:p>
          <a:p>
            <a:r>
              <a:rPr lang="en-US" dirty="0" smtClean="0"/>
              <a:t>Assumptions:</a:t>
            </a:r>
          </a:p>
          <a:p>
            <a:pPr lvl="1"/>
            <a:r>
              <a:rPr lang="en-US" dirty="0" smtClean="0"/>
              <a:t>No other object inside boundary except trash</a:t>
            </a:r>
          </a:p>
          <a:p>
            <a:pPr lvl="1"/>
            <a:r>
              <a:rPr lang="en-US" dirty="0" smtClean="0"/>
              <a:t>Trash are small white boxes about the same size as the robot</a:t>
            </a:r>
          </a:p>
        </p:txBody>
      </p:sp>
    </p:spTree>
    <p:extLst>
      <p:ext uri="{BB962C8B-B14F-4D97-AF65-F5344CB8AC3E}">
        <p14:creationId xmlns:p14="http://schemas.microsoft.com/office/powerpoint/2010/main" val="617946967"/>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19073</TotalTime>
  <Words>1832</Words>
  <Application>Microsoft Macintosh PowerPoint</Application>
  <PresentationFormat>On-screen Show (4:3)</PresentationFormat>
  <Paragraphs>210</Paragraphs>
  <Slides>41</Slides>
  <Notes>3</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Clarity</vt:lpstr>
      <vt:lpstr>Stanford summer Institutes </vt:lpstr>
      <vt:lpstr>PowerPoint Presentation</vt:lpstr>
      <vt:lpstr>How Do You Feel?</vt:lpstr>
      <vt:lpstr>Or …</vt:lpstr>
      <vt:lpstr>A Little Bit Of This?</vt:lpstr>
      <vt:lpstr>You Are Learning College Level Material</vt:lpstr>
      <vt:lpstr>Ask Questions and Help Each Other</vt:lpstr>
      <vt:lpstr>Explore !</vt:lpstr>
      <vt:lpstr>Topics </vt:lpstr>
      <vt:lpstr>Threads: Don’t “Over Think”</vt:lpstr>
      <vt:lpstr>Queues: </vt:lpstr>
      <vt:lpstr>Event Driven Programming Implementation</vt:lpstr>
      <vt:lpstr>How To Implement An Event Driven System</vt:lpstr>
      <vt:lpstr>A Even-Driven System Using Queues</vt:lpstr>
      <vt:lpstr>Lab #4: Robot Escape</vt:lpstr>
      <vt:lpstr>Code Review: Dispatcher</vt:lpstr>
      <vt:lpstr>Code Review: Handler1 (Draw)</vt:lpstr>
      <vt:lpstr>Code Review: Handler2</vt:lpstr>
      <vt:lpstr>Code Review: Main</vt:lpstr>
      <vt:lpstr>Finite State Machine (FSM)</vt:lpstr>
      <vt:lpstr>FSM Examples in Daily Live</vt:lpstr>
      <vt:lpstr>What Is A Finite State Machine</vt:lpstr>
      <vt:lpstr>More Precisely (Formally)</vt:lpstr>
      <vt:lpstr>A (Simplified) Ticket Machine</vt:lpstr>
      <vt:lpstr>Acceptors and Transducers</vt:lpstr>
      <vt:lpstr>Deterministic and Non-Deterministic</vt:lpstr>
      <vt:lpstr>How To Implement an FSM</vt:lpstr>
      <vt:lpstr>Python: Dictionaries</vt:lpstr>
      <vt:lpstr>Python Dictionaries</vt:lpstr>
      <vt:lpstr>Python Dictionaries: Why?</vt:lpstr>
      <vt:lpstr>Use Dictionary For Transitions</vt:lpstr>
      <vt:lpstr>Simplest FSM</vt:lpstr>
      <vt:lpstr>State Machine Code Example</vt:lpstr>
      <vt:lpstr>Simplest FSM</vt:lpstr>
      <vt:lpstr>Simple Robot Example</vt:lpstr>
      <vt:lpstr>Why Finite State Machines For Robot</vt:lpstr>
      <vt:lpstr>Lab #5: Obstacle Avoidance</vt:lpstr>
      <vt:lpstr>Lab #5: Improving The Escape Program</vt:lpstr>
      <vt:lpstr>Lab Extra: “Cleaner” (Push Out “Trash”)</vt:lpstr>
      <vt:lpstr>Clean Out Trash</vt:lpstr>
      <vt:lpstr>Trash Cleaner Spec</vt:lpstr>
    </vt:vector>
  </TitlesOfParts>
  <Company>JiaJia.tv</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CS123</dc:title>
  <dc:creator>David Zhu</dc:creator>
  <cp:lastModifiedBy>David Zhu</cp:lastModifiedBy>
  <cp:revision>194</cp:revision>
  <dcterms:created xsi:type="dcterms:W3CDTF">2015-08-28T00:40:52Z</dcterms:created>
  <dcterms:modified xsi:type="dcterms:W3CDTF">2016-06-24T15:42:45Z</dcterms:modified>
</cp:coreProperties>
</file>